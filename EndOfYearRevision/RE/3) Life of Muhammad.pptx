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5.xml" ContentType="application/vnd.openxmlformats-officedocument.presentationml.slide+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ppt/revisionInfo.xml" ContentType="application/vnd.ms-powerpoint.revisioninfo+xml"/>
  <Override PartName="/docProps/core.xml" ContentType="application/vnd.openxmlformats-package.core-properties+xml"/>
  <Override PartName="/ppt/slides/slide2.xml" ContentType="application/vnd.openxmlformats-officedocument.presentationml.slide+xml"/>
  <Override PartName="/ppt/slideLayouts/slideLayout8.xml" ContentType="application/vnd.openxmlformats-officedocument.presentationml.slideLayou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s/slide11.xml" ContentType="application/vnd.openxmlformats-officedocument.presentationml.slide+xml"/>
  <Override PartName="/ppt/slideLayouts/slideLayout6.xml" ContentType="application/vnd.openxmlformats-officedocument.presentationml.slideLayout+xml"/>
  <Override PartName="/ppt/slides/slide10.xml" ContentType="application/vnd.openxmlformats-officedocument.presentationml.slide+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s/slide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5" r:id="rId3"/>
  </p:sldMasterIdLst>
  <p:sldIdLst>
    <p:sldId id="256" r:id="rId4"/>
    <p:sldId id="258" r:id="rId5"/>
    <p:sldId id="260" r:id="rId6"/>
    <p:sldId id="261" r:id="rId7"/>
    <p:sldId id="263" r:id="rId8"/>
    <p:sldId id="264" r:id="rId9"/>
    <p:sldId id="265" r:id="rId10"/>
    <p:sldId id="269"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9CB7BA-DF92-423D-A3A6-660844C5DE61}" v="107" dt="2024-04-15T08:49:16.093"/>
    <p1510:client id="{E1D417F2-8F85-488F-B505-619463AF9942}" v="34" dt="2024-04-15T09:01:33.2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tableStyles" Target="tableStyles.xml"/><Relationship Id="rId3" Type="http://schemas.openxmlformats.org/officeDocument/2006/relationships/slideMaster" Target="slideMasters/slide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openxmlformats.org/officeDocument/2006/relationships/customXml" Target="../customXml/item3.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presProps" Target="presProps.xml"/><Relationship Id="rId10" Type="http://schemas.openxmlformats.org/officeDocument/2006/relationships/slide" Target="slides/slide7.xml"/><Relationship Id="rId19"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9798E-90C4-48E6-B39B-37FF65347ABD}"/>
              </a:ext>
            </a:extLst>
          </p:cNvPr>
          <p:cNvSpPr>
            <a:spLocks noGrp="1"/>
          </p:cNvSpPr>
          <p:nvPr>
            <p:ph type="ctrTitle"/>
          </p:nvPr>
        </p:nvSpPr>
        <p:spPr>
          <a:xfrm>
            <a:off x="2197100" y="1079500"/>
            <a:ext cx="7797799" cy="2138400"/>
          </a:xfrm>
        </p:spPr>
        <p:txBody>
          <a:bodyPr anchor="b">
            <a:normAutofit/>
          </a:bodyPr>
          <a:lstStyle>
            <a:lvl1pPr algn="ctr">
              <a:defRPr sz="2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3D95C8C-0A7F-40D9-A690-3D5898EFFE81}"/>
              </a:ext>
            </a:extLst>
          </p:cNvPr>
          <p:cNvSpPr>
            <a:spLocks noGrp="1"/>
          </p:cNvSpPr>
          <p:nvPr>
            <p:ph type="subTitle" idx="1"/>
          </p:nvPr>
        </p:nvSpPr>
        <p:spPr>
          <a:xfrm>
            <a:off x="3308350" y="4113213"/>
            <a:ext cx="5575300" cy="1655762"/>
          </a:xfrm>
        </p:spPr>
        <p:txBody>
          <a:bodyPr/>
          <a:lstStyle>
            <a:lvl1pPr marL="0" indent="0" algn="ctr">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3D1322F3-E47A-4D6E-96A8-AB5C73BA9906}"/>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dirty="0"/>
          </a:p>
        </p:txBody>
      </p:sp>
      <p:sp>
        <p:nvSpPr>
          <p:cNvPr id="5" name="Footer Placeholder 4">
            <a:extLst>
              <a:ext uri="{FF2B5EF4-FFF2-40B4-BE49-F238E27FC236}">
                <a16:creationId xmlns:a16="http://schemas.microsoft.com/office/drawing/2014/main" id="{737BF5CE-9E66-4FD5-949F-34E11607C6DF}"/>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EEDAB7A-4032-416A-B04E-1F4878912E0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dirty="0"/>
          </a:p>
        </p:txBody>
      </p:sp>
      <p:cxnSp>
        <p:nvCxnSpPr>
          <p:cNvPr id="7" name="Straight Connector 6">
            <a:extLst>
              <a:ext uri="{FF2B5EF4-FFF2-40B4-BE49-F238E27FC236}">
                <a16:creationId xmlns:a16="http://schemas.microsoft.com/office/drawing/2014/main" id="{701C0CAB-6A03-4C6A-9FAA-219847753628}"/>
              </a:ext>
            </a:extLst>
          </p:cNvPr>
          <p:cNvCxnSpPr>
            <a:cxnSpLocks/>
          </p:cNvCxnSpPr>
          <p:nvPr/>
        </p:nvCxnSpPr>
        <p:spPr>
          <a:xfrm>
            <a:off x="5826000"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F982E0B2-AA9C-441C-A08E-A9DF9CF12116}"/>
              </a:ext>
            </a:extLst>
          </p:cNvPr>
          <p:cNvGrpSpPr/>
          <p:nvPr/>
        </p:nvGrpSpPr>
        <p:grpSpPr>
          <a:xfrm>
            <a:off x="9728046" y="4869342"/>
            <a:ext cx="1623711" cy="630920"/>
            <a:chOff x="9588346" y="4824892"/>
            <a:chExt cx="1623711" cy="630920"/>
          </a:xfrm>
        </p:grpSpPr>
        <p:sp>
          <p:nvSpPr>
            <p:cNvPr id="16" name="Freeform: Shape 15">
              <a:extLst>
                <a:ext uri="{FF2B5EF4-FFF2-40B4-BE49-F238E27FC236}">
                  <a16:creationId xmlns:a16="http://schemas.microsoft.com/office/drawing/2014/main" id="{A4A2E074-C10D-4C57-AB72-B631E4D77102}"/>
                </a:ext>
              </a:extLst>
            </p:cNvPr>
            <p:cNvSpPr/>
            <p:nvPr/>
          </p:nvSpPr>
          <p:spPr>
            <a:xfrm rot="2700000" flipH="1">
              <a:off x="10267789" y="4452443"/>
              <a:ext cx="571820" cy="1316717"/>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71820" h="1316717">
                  <a:moveTo>
                    <a:pt x="282417" y="0"/>
                  </a:moveTo>
                  <a:lnTo>
                    <a:pt x="285910" y="3175"/>
                  </a:lnTo>
                  <a:lnTo>
                    <a:pt x="287393" y="1827"/>
                  </a:lnTo>
                  <a:lnTo>
                    <a:pt x="289403" y="0"/>
                  </a:lnTo>
                  <a:lnTo>
                    <a:pt x="289403" y="6349"/>
                  </a:lnTo>
                  <a:lnTo>
                    <a:pt x="309203" y="24345"/>
                  </a:lnTo>
                  <a:cubicBezTo>
                    <a:pt x="471461" y="186603"/>
                    <a:pt x="571820" y="410761"/>
                    <a:pt x="571820" y="658359"/>
                  </a:cubicBezTo>
                  <a:cubicBezTo>
                    <a:pt x="571820" y="905956"/>
                    <a:pt x="471461" y="1130114"/>
                    <a:pt x="309203" y="1292372"/>
                  </a:cubicBezTo>
                  <a:lnTo>
                    <a:pt x="289403" y="1310368"/>
                  </a:lnTo>
                  <a:lnTo>
                    <a:pt x="289403" y="1316717"/>
                  </a:lnTo>
                  <a:lnTo>
                    <a:pt x="287393" y="1314890"/>
                  </a:lnTo>
                  <a:lnTo>
                    <a:pt x="285910" y="1313542"/>
                  </a:lnTo>
                  <a:lnTo>
                    <a:pt x="282417" y="1316717"/>
                  </a:lnTo>
                  <a:lnTo>
                    <a:pt x="282417" y="1310367"/>
                  </a:lnTo>
                  <a:lnTo>
                    <a:pt x="262617" y="1292372"/>
                  </a:lnTo>
                  <a:cubicBezTo>
                    <a:pt x="100359" y="1130113"/>
                    <a:pt x="0" y="905956"/>
                    <a:pt x="0" y="658358"/>
                  </a:cubicBezTo>
                  <a:cubicBezTo>
                    <a:pt x="0" y="410761"/>
                    <a:pt x="100359" y="186603"/>
                    <a:pt x="262617" y="24345"/>
                  </a:cubicBezTo>
                  <a:lnTo>
                    <a:pt x="282417" y="6349"/>
                  </a:lnTo>
                  <a:close/>
                </a:path>
              </a:pathLst>
            </a:custGeom>
            <a:solidFill>
              <a:schemeClr val="accent4">
                <a:alpha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7" name="Group 16">
              <a:extLst>
                <a:ext uri="{FF2B5EF4-FFF2-40B4-BE49-F238E27FC236}">
                  <a16:creationId xmlns:a16="http://schemas.microsoft.com/office/drawing/2014/main" id="{0B037EB3-1772-4BA8-A95A-E5DBDFEA32B0}"/>
                </a:ext>
              </a:extLst>
            </p:cNvPr>
            <p:cNvGrpSpPr/>
            <p:nvPr/>
          </p:nvGrpSpPr>
          <p:grpSpPr>
            <a:xfrm rot="2700000" flipH="1">
              <a:off x="10112436" y="4359902"/>
              <a:ext cx="571820" cy="1620000"/>
              <a:chOff x="8482785" y="4330454"/>
              <a:chExt cx="571820" cy="1620000"/>
            </a:xfrm>
          </p:grpSpPr>
          <p:sp>
            <p:nvSpPr>
              <p:cNvPr id="18" name="Freeform: Shape 17">
                <a:extLst>
                  <a:ext uri="{FF2B5EF4-FFF2-40B4-BE49-F238E27FC236}">
                    <a16:creationId xmlns:a16="http://schemas.microsoft.com/office/drawing/2014/main" id="{A1F47AC1-63D0-47F3-9728-1A0A0543494B}"/>
                  </a:ext>
                </a:extLst>
              </p:cNvPr>
              <p:cNvSpPr/>
              <p:nvPr/>
            </p:nvSpPr>
            <p:spPr>
              <a:xfrm>
                <a:off x="8482785" y="4333632"/>
                <a:ext cx="571820" cy="1311956"/>
              </a:xfrm>
              <a:custGeom>
                <a:avLst/>
                <a:gdLst>
                  <a:gd name="connsiteX0" fmla="*/ 282417 w 571820"/>
                  <a:gd name="connsiteY0" fmla="*/ 0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82417 w 571820"/>
                  <a:gd name="connsiteY0" fmla="*/ 6349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17" fmla="*/ 282417 w 571820"/>
                  <a:gd name="connsiteY17" fmla="*/ 6349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289403 w 571820"/>
                  <a:gd name="connsiteY4" fmla="*/ 6349 h 1316717"/>
                  <a:gd name="connsiteX5" fmla="*/ 309203 w 571820"/>
                  <a:gd name="connsiteY5" fmla="*/ 24345 h 1316717"/>
                  <a:gd name="connsiteX6" fmla="*/ 571820 w 571820"/>
                  <a:gd name="connsiteY6" fmla="*/ 658359 h 1316717"/>
                  <a:gd name="connsiteX7" fmla="*/ 309203 w 571820"/>
                  <a:gd name="connsiteY7" fmla="*/ 1292372 h 1316717"/>
                  <a:gd name="connsiteX8" fmla="*/ 289403 w 571820"/>
                  <a:gd name="connsiteY8" fmla="*/ 1310368 h 1316717"/>
                  <a:gd name="connsiteX9" fmla="*/ 289403 w 571820"/>
                  <a:gd name="connsiteY9" fmla="*/ 1316717 h 1316717"/>
                  <a:gd name="connsiteX10" fmla="*/ 287393 w 571820"/>
                  <a:gd name="connsiteY10" fmla="*/ 1314890 h 1316717"/>
                  <a:gd name="connsiteX11" fmla="*/ 285910 w 571820"/>
                  <a:gd name="connsiteY11" fmla="*/ 1313542 h 1316717"/>
                  <a:gd name="connsiteX12" fmla="*/ 282417 w 571820"/>
                  <a:gd name="connsiteY12" fmla="*/ 1316717 h 1316717"/>
                  <a:gd name="connsiteX13" fmla="*/ 282417 w 571820"/>
                  <a:gd name="connsiteY13" fmla="*/ 1310367 h 1316717"/>
                  <a:gd name="connsiteX14" fmla="*/ 262617 w 571820"/>
                  <a:gd name="connsiteY14" fmla="*/ 1292372 h 1316717"/>
                  <a:gd name="connsiteX15" fmla="*/ 0 w 571820"/>
                  <a:gd name="connsiteY15" fmla="*/ 658358 h 1316717"/>
                  <a:gd name="connsiteX16" fmla="*/ 262617 w 571820"/>
                  <a:gd name="connsiteY16" fmla="*/ 24345 h 1316717"/>
                  <a:gd name="connsiteX0" fmla="*/ 262617 w 571820"/>
                  <a:gd name="connsiteY0" fmla="*/ 24345 h 1316717"/>
                  <a:gd name="connsiteX1" fmla="*/ 285910 w 571820"/>
                  <a:gd name="connsiteY1" fmla="*/ 3175 h 1316717"/>
                  <a:gd name="connsiteX2" fmla="*/ 287393 w 571820"/>
                  <a:gd name="connsiteY2" fmla="*/ 1827 h 1316717"/>
                  <a:gd name="connsiteX3" fmla="*/ 289403 w 571820"/>
                  <a:gd name="connsiteY3" fmla="*/ 0 h 1316717"/>
                  <a:gd name="connsiteX4" fmla="*/ 309203 w 571820"/>
                  <a:gd name="connsiteY4" fmla="*/ 24345 h 1316717"/>
                  <a:gd name="connsiteX5" fmla="*/ 571820 w 571820"/>
                  <a:gd name="connsiteY5" fmla="*/ 658359 h 1316717"/>
                  <a:gd name="connsiteX6" fmla="*/ 309203 w 571820"/>
                  <a:gd name="connsiteY6" fmla="*/ 1292372 h 1316717"/>
                  <a:gd name="connsiteX7" fmla="*/ 289403 w 571820"/>
                  <a:gd name="connsiteY7" fmla="*/ 1310368 h 1316717"/>
                  <a:gd name="connsiteX8" fmla="*/ 289403 w 571820"/>
                  <a:gd name="connsiteY8" fmla="*/ 1316717 h 1316717"/>
                  <a:gd name="connsiteX9" fmla="*/ 287393 w 571820"/>
                  <a:gd name="connsiteY9" fmla="*/ 1314890 h 1316717"/>
                  <a:gd name="connsiteX10" fmla="*/ 285910 w 571820"/>
                  <a:gd name="connsiteY10" fmla="*/ 1313542 h 1316717"/>
                  <a:gd name="connsiteX11" fmla="*/ 282417 w 571820"/>
                  <a:gd name="connsiteY11" fmla="*/ 1316717 h 1316717"/>
                  <a:gd name="connsiteX12" fmla="*/ 282417 w 571820"/>
                  <a:gd name="connsiteY12" fmla="*/ 1310367 h 1316717"/>
                  <a:gd name="connsiteX13" fmla="*/ 262617 w 571820"/>
                  <a:gd name="connsiteY13" fmla="*/ 1292372 h 1316717"/>
                  <a:gd name="connsiteX14" fmla="*/ 0 w 571820"/>
                  <a:gd name="connsiteY14" fmla="*/ 658358 h 1316717"/>
                  <a:gd name="connsiteX15" fmla="*/ 262617 w 571820"/>
                  <a:gd name="connsiteY15" fmla="*/ 24345 h 1316717"/>
                  <a:gd name="connsiteX0" fmla="*/ 262617 w 571820"/>
                  <a:gd name="connsiteY0" fmla="*/ 22518 h 1314890"/>
                  <a:gd name="connsiteX1" fmla="*/ 285910 w 571820"/>
                  <a:gd name="connsiteY1" fmla="*/ 1348 h 1314890"/>
                  <a:gd name="connsiteX2" fmla="*/ 287393 w 571820"/>
                  <a:gd name="connsiteY2" fmla="*/ 0 h 1314890"/>
                  <a:gd name="connsiteX3" fmla="*/ 309203 w 571820"/>
                  <a:gd name="connsiteY3" fmla="*/ 22518 h 1314890"/>
                  <a:gd name="connsiteX4" fmla="*/ 571820 w 571820"/>
                  <a:gd name="connsiteY4" fmla="*/ 656532 h 1314890"/>
                  <a:gd name="connsiteX5" fmla="*/ 309203 w 571820"/>
                  <a:gd name="connsiteY5" fmla="*/ 1290545 h 1314890"/>
                  <a:gd name="connsiteX6" fmla="*/ 289403 w 571820"/>
                  <a:gd name="connsiteY6" fmla="*/ 1308541 h 1314890"/>
                  <a:gd name="connsiteX7" fmla="*/ 289403 w 571820"/>
                  <a:gd name="connsiteY7" fmla="*/ 1314890 h 1314890"/>
                  <a:gd name="connsiteX8" fmla="*/ 287393 w 571820"/>
                  <a:gd name="connsiteY8" fmla="*/ 1313063 h 1314890"/>
                  <a:gd name="connsiteX9" fmla="*/ 285910 w 571820"/>
                  <a:gd name="connsiteY9" fmla="*/ 1311715 h 1314890"/>
                  <a:gd name="connsiteX10" fmla="*/ 282417 w 571820"/>
                  <a:gd name="connsiteY10" fmla="*/ 1314890 h 1314890"/>
                  <a:gd name="connsiteX11" fmla="*/ 282417 w 571820"/>
                  <a:gd name="connsiteY11" fmla="*/ 1308540 h 1314890"/>
                  <a:gd name="connsiteX12" fmla="*/ 262617 w 571820"/>
                  <a:gd name="connsiteY12" fmla="*/ 1290545 h 1314890"/>
                  <a:gd name="connsiteX13" fmla="*/ 0 w 571820"/>
                  <a:gd name="connsiteY13" fmla="*/ 656531 h 1314890"/>
                  <a:gd name="connsiteX14" fmla="*/ 262617 w 571820"/>
                  <a:gd name="connsiteY14" fmla="*/ 22518 h 1314890"/>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82417 w 571820"/>
                  <a:gd name="connsiteY10" fmla="*/ 1307192 h 1313542"/>
                  <a:gd name="connsiteX11" fmla="*/ 262617 w 571820"/>
                  <a:gd name="connsiteY11" fmla="*/ 1289197 h 1313542"/>
                  <a:gd name="connsiteX12" fmla="*/ 0 w 571820"/>
                  <a:gd name="connsiteY12" fmla="*/ 655183 h 1313542"/>
                  <a:gd name="connsiteX13" fmla="*/ 262617 w 571820"/>
                  <a:gd name="connsiteY13"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82417 w 571820"/>
                  <a:gd name="connsiteY9" fmla="*/ 1313542 h 1313542"/>
                  <a:gd name="connsiteX10" fmla="*/ 262617 w 571820"/>
                  <a:gd name="connsiteY10" fmla="*/ 1289197 h 1313542"/>
                  <a:gd name="connsiteX11" fmla="*/ 0 w 571820"/>
                  <a:gd name="connsiteY11" fmla="*/ 655183 h 1313542"/>
                  <a:gd name="connsiteX12" fmla="*/ 262617 w 571820"/>
                  <a:gd name="connsiteY12"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85910 w 571820"/>
                  <a:gd name="connsiteY8" fmla="*/ 1310367 h 1313542"/>
                  <a:gd name="connsiteX9" fmla="*/ 262617 w 571820"/>
                  <a:gd name="connsiteY9" fmla="*/ 1289197 h 1313542"/>
                  <a:gd name="connsiteX10" fmla="*/ 0 w 571820"/>
                  <a:gd name="connsiteY10" fmla="*/ 655183 h 1313542"/>
                  <a:gd name="connsiteX11" fmla="*/ 262617 w 571820"/>
                  <a:gd name="connsiteY11"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87393 w 571820"/>
                  <a:gd name="connsiteY7" fmla="*/ 1311715 h 1313542"/>
                  <a:gd name="connsiteX8" fmla="*/ 262617 w 571820"/>
                  <a:gd name="connsiteY8" fmla="*/ 1289197 h 1313542"/>
                  <a:gd name="connsiteX9" fmla="*/ 0 w 571820"/>
                  <a:gd name="connsiteY9" fmla="*/ 655183 h 1313542"/>
                  <a:gd name="connsiteX10" fmla="*/ 262617 w 571820"/>
                  <a:gd name="connsiteY10" fmla="*/ 21170 h 1313542"/>
                  <a:gd name="connsiteX0" fmla="*/ 262617 w 571820"/>
                  <a:gd name="connsiteY0" fmla="*/ 21170 h 1313542"/>
                  <a:gd name="connsiteX1" fmla="*/ 285910 w 571820"/>
                  <a:gd name="connsiteY1" fmla="*/ 0 h 1313542"/>
                  <a:gd name="connsiteX2" fmla="*/ 309203 w 571820"/>
                  <a:gd name="connsiteY2" fmla="*/ 21170 h 1313542"/>
                  <a:gd name="connsiteX3" fmla="*/ 571820 w 571820"/>
                  <a:gd name="connsiteY3" fmla="*/ 655184 h 1313542"/>
                  <a:gd name="connsiteX4" fmla="*/ 309203 w 571820"/>
                  <a:gd name="connsiteY4" fmla="*/ 1289197 h 1313542"/>
                  <a:gd name="connsiteX5" fmla="*/ 289403 w 571820"/>
                  <a:gd name="connsiteY5" fmla="*/ 1307193 h 1313542"/>
                  <a:gd name="connsiteX6" fmla="*/ 289403 w 571820"/>
                  <a:gd name="connsiteY6" fmla="*/ 1313542 h 1313542"/>
                  <a:gd name="connsiteX7" fmla="*/ 262617 w 571820"/>
                  <a:gd name="connsiteY7" fmla="*/ 1289197 h 1313542"/>
                  <a:gd name="connsiteX8" fmla="*/ 0 w 571820"/>
                  <a:gd name="connsiteY8" fmla="*/ 655183 h 1313542"/>
                  <a:gd name="connsiteX9" fmla="*/ 262617 w 571820"/>
                  <a:gd name="connsiteY9" fmla="*/ 21170 h 1313542"/>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9403 w 571820"/>
                  <a:gd name="connsiteY5" fmla="*/ 1307193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64739"/>
                  <a:gd name="connsiteX1" fmla="*/ 285910 w 571820"/>
                  <a:gd name="connsiteY1" fmla="*/ 0 h 1364739"/>
                  <a:gd name="connsiteX2" fmla="*/ 309203 w 571820"/>
                  <a:gd name="connsiteY2" fmla="*/ 21170 h 1364739"/>
                  <a:gd name="connsiteX3" fmla="*/ 571820 w 571820"/>
                  <a:gd name="connsiteY3" fmla="*/ 655184 h 1364739"/>
                  <a:gd name="connsiteX4" fmla="*/ 309203 w 571820"/>
                  <a:gd name="connsiteY4" fmla="*/ 1289197 h 1364739"/>
                  <a:gd name="connsiteX5" fmla="*/ 285832 w 571820"/>
                  <a:gd name="connsiteY5" fmla="*/ 1311956 h 1364739"/>
                  <a:gd name="connsiteX6" fmla="*/ 177485 w 571820"/>
                  <a:gd name="connsiteY6" fmla="*/ 1364739 h 1364739"/>
                  <a:gd name="connsiteX7" fmla="*/ 262617 w 571820"/>
                  <a:gd name="connsiteY7" fmla="*/ 1289197 h 1364739"/>
                  <a:gd name="connsiteX8" fmla="*/ 0 w 571820"/>
                  <a:gd name="connsiteY8" fmla="*/ 655183 h 1364739"/>
                  <a:gd name="connsiteX9" fmla="*/ 262617 w 571820"/>
                  <a:gd name="connsiteY9" fmla="*/ 21170 h 1364739"/>
                  <a:gd name="connsiteX0" fmla="*/ 262617 w 571820"/>
                  <a:gd name="connsiteY0" fmla="*/ 21170 h 1311956"/>
                  <a:gd name="connsiteX1" fmla="*/ 285910 w 571820"/>
                  <a:gd name="connsiteY1" fmla="*/ 0 h 1311956"/>
                  <a:gd name="connsiteX2" fmla="*/ 309203 w 571820"/>
                  <a:gd name="connsiteY2" fmla="*/ 21170 h 1311956"/>
                  <a:gd name="connsiteX3" fmla="*/ 571820 w 571820"/>
                  <a:gd name="connsiteY3" fmla="*/ 655184 h 1311956"/>
                  <a:gd name="connsiteX4" fmla="*/ 309203 w 571820"/>
                  <a:gd name="connsiteY4" fmla="*/ 1289197 h 1311956"/>
                  <a:gd name="connsiteX5" fmla="*/ 285832 w 571820"/>
                  <a:gd name="connsiteY5" fmla="*/ 1311956 h 1311956"/>
                  <a:gd name="connsiteX6" fmla="*/ 262617 w 571820"/>
                  <a:gd name="connsiteY6" fmla="*/ 1289197 h 1311956"/>
                  <a:gd name="connsiteX7" fmla="*/ 0 w 571820"/>
                  <a:gd name="connsiteY7" fmla="*/ 655183 h 1311956"/>
                  <a:gd name="connsiteX8" fmla="*/ 262617 w 571820"/>
                  <a:gd name="connsiteY8" fmla="*/ 21170 h 1311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1820" h="1311956">
                    <a:moveTo>
                      <a:pt x="262617" y="21170"/>
                    </a:moveTo>
                    <a:lnTo>
                      <a:pt x="285910" y="0"/>
                    </a:lnTo>
                    <a:lnTo>
                      <a:pt x="309203" y="21170"/>
                    </a:lnTo>
                    <a:cubicBezTo>
                      <a:pt x="471461" y="183428"/>
                      <a:pt x="571820" y="407586"/>
                      <a:pt x="571820" y="655184"/>
                    </a:cubicBezTo>
                    <a:cubicBezTo>
                      <a:pt x="571820" y="902781"/>
                      <a:pt x="471461" y="1126939"/>
                      <a:pt x="309203" y="1289197"/>
                    </a:cubicBezTo>
                    <a:lnTo>
                      <a:pt x="285832" y="1311956"/>
                    </a:lnTo>
                    <a:lnTo>
                      <a:pt x="262617" y="1289197"/>
                    </a:lnTo>
                    <a:cubicBezTo>
                      <a:pt x="100359" y="1126938"/>
                      <a:pt x="0" y="902781"/>
                      <a:pt x="0" y="655183"/>
                    </a:cubicBezTo>
                    <a:cubicBezTo>
                      <a:pt x="0" y="407586"/>
                      <a:pt x="100359" y="183428"/>
                      <a:pt x="262617" y="21170"/>
                    </a:cubicBez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9" name="Straight Connector 18">
                <a:extLst>
                  <a:ext uri="{FF2B5EF4-FFF2-40B4-BE49-F238E27FC236}">
                    <a16:creationId xmlns:a16="http://schemas.microsoft.com/office/drawing/2014/main" id="{803A57D6-0C36-4560-A08A-16768551EF6F}"/>
                  </a:ext>
                </a:extLst>
              </p:cNvPr>
              <p:cNvCxnSpPr>
                <a:cxnSpLocks/>
              </p:cNvCxnSpPr>
              <p:nvPr/>
            </p:nvCxnSpPr>
            <p:spPr>
              <a:xfrm>
                <a:off x="8768695" y="4330454"/>
                <a:ext cx="0" cy="162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4215480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A217A-A229-4751-8D09-0CAD914F628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1A9DEA33-60C3-4B28-B3EF-E93D6D46A30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7D3B28-C66B-4279-AB67-2BC1D01239A4}"/>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5" name="Footer Placeholder 4">
            <a:extLst>
              <a:ext uri="{FF2B5EF4-FFF2-40B4-BE49-F238E27FC236}">
                <a16:creationId xmlns:a16="http://schemas.microsoft.com/office/drawing/2014/main" id="{8928FF39-A0DA-4F77-9297-B83C86B575D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9D7D65A-9D4E-42F6-A8BF-1EEAFB180710}"/>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333958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017BB-B242-4CC6-887C-83E08CE2D54A}"/>
              </a:ext>
            </a:extLst>
          </p:cNvPr>
          <p:cNvSpPr>
            <a:spLocks noGrp="1"/>
          </p:cNvSpPr>
          <p:nvPr>
            <p:ph type="title"/>
          </p:nvPr>
        </p:nvSpPr>
        <p:spPr>
          <a:xfrm>
            <a:off x="1079500" y="2252663"/>
            <a:ext cx="4457700" cy="2349500"/>
          </a:xfrm>
        </p:spPr>
        <p:txBody>
          <a:bodyPr anchor="ctr" anchorCtr="0">
            <a:normAutofit/>
          </a:bodyPr>
          <a:lstStyle>
            <a:lvl1pPr algn="ctr">
              <a:defRPr sz="2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695823-EA83-493F-8FEC-C72B5B9CF2FD}"/>
              </a:ext>
            </a:extLst>
          </p:cNvPr>
          <p:cNvSpPr>
            <a:spLocks noGrp="1"/>
          </p:cNvSpPr>
          <p:nvPr>
            <p:ph type="body" idx="1"/>
          </p:nvPr>
        </p:nvSpPr>
        <p:spPr>
          <a:xfrm>
            <a:off x="6654800" y="2252664"/>
            <a:ext cx="4451348" cy="2349500"/>
          </a:xfrm>
        </p:spPr>
        <p:txBody>
          <a:bodyPr anchor="ctr" anchorCtr="0"/>
          <a:lstStyle>
            <a:lvl1pPr marL="0" indent="0">
              <a:buNone/>
              <a:defRPr sz="2400" i="1">
                <a:solidFill>
                  <a:schemeClr val="tx1">
                    <a:alpha val="7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1E08E54-36BB-4AB4-BE1F-5FA8207BEAF8}"/>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5" name="Footer Placeholder 4">
            <a:extLst>
              <a:ext uri="{FF2B5EF4-FFF2-40B4-BE49-F238E27FC236}">
                <a16:creationId xmlns:a16="http://schemas.microsoft.com/office/drawing/2014/main" id="{C0453A6A-C55A-40A1-A3BB-DB417047F54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96D6E656-7AC0-4BD3-AFE5-4B5122E2F2D8}"/>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grpSp>
        <p:nvGrpSpPr>
          <p:cNvPr id="20" name="Group 19">
            <a:extLst>
              <a:ext uri="{FF2B5EF4-FFF2-40B4-BE49-F238E27FC236}">
                <a16:creationId xmlns:a16="http://schemas.microsoft.com/office/drawing/2014/main" id="{E9ABE19D-0B51-4388-93D1-0CD6B767115D}"/>
              </a:ext>
            </a:extLst>
          </p:cNvPr>
          <p:cNvGrpSpPr/>
          <p:nvPr/>
        </p:nvGrpSpPr>
        <p:grpSpPr>
          <a:xfrm>
            <a:off x="999771" y="932104"/>
            <a:ext cx="913428" cy="1032464"/>
            <a:chOff x="999771" y="932104"/>
            <a:chExt cx="913428" cy="1032464"/>
          </a:xfrm>
        </p:grpSpPr>
        <p:grpSp>
          <p:nvGrpSpPr>
            <p:cNvPr id="21" name="Group 20">
              <a:extLst>
                <a:ext uri="{FF2B5EF4-FFF2-40B4-BE49-F238E27FC236}">
                  <a16:creationId xmlns:a16="http://schemas.microsoft.com/office/drawing/2014/main" id="{46226ED6-7133-4222-9552-0EA4B1B3C9FB}"/>
                </a:ext>
              </a:extLst>
            </p:cNvPr>
            <p:cNvGrpSpPr/>
            <p:nvPr/>
          </p:nvGrpSpPr>
          <p:grpSpPr>
            <a:xfrm rot="8100000" flipV="1">
              <a:off x="1047457" y="1290386"/>
              <a:ext cx="865742" cy="628383"/>
              <a:chOff x="558167" y="958515"/>
              <a:chExt cx="865742" cy="628383"/>
            </a:xfrm>
            <a:solidFill>
              <a:schemeClr val="accent3"/>
            </a:solidFill>
          </p:grpSpPr>
          <p:sp>
            <p:nvSpPr>
              <p:cNvPr id="28" name="Freeform: Shape 27">
                <a:extLst>
                  <a:ext uri="{FF2B5EF4-FFF2-40B4-BE49-F238E27FC236}">
                    <a16:creationId xmlns:a16="http://schemas.microsoft.com/office/drawing/2014/main" id="{BE810E40-D42F-4034-93BA-54446465D20B}"/>
                  </a:ext>
                </a:extLst>
              </p:cNvPr>
              <p:cNvSpPr/>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Freeform: Shape 28">
                <a:extLst>
                  <a:ext uri="{FF2B5EF4-FFF2-40B4-BE49-F238E27FC236}">
                    <a16:creationId xmlns:a16="http://schemas.microsoft.com/office/drawing/2014/main" id="{60F6BFC2-CA89-42B8-8A5A-E9F26BA87FBB}"/>
                  </a:ext>
                </a:extLst>
              </p:cNvPr>
              <p:cNvSpPr/>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2" name="Group 21">
              <a:extLst>
                <a:ext uri="{FF2B5EF4-FFF2-40B4-BE49-F238E27FC236}">
                  <a16:creationId xmlns:a16="http://schemas.microsoft.com/office/drawing/2014/main" id="{1CA36485-DC1D-48C9-91B2-425DBC66D471}"/>
                </a:ext>
              </a:extLst>
            </p:cNvPr>
            <p:cNvGrpSpPr/>
            <p:nvPr/>
          </p:nvGrpSpPr>
          <p:grpSpPr>
            <a:xfrm rot="10800000" flipH="1" flipV="1">
              <a:off x="999771" y="932104"/>
              <a:ext cx="864005" cy="1032464"/>
              <a:chOff x="2207971" y="2384401"/>
              <a:chExt cx="864005" cy="1032464"/>
            </a:xfrm>
          </p:grpSpPr>
          <p:sp>
            <p:nvSpPr>
              <p:cNvPr id="23" name="Freeform: Shape 22">
                <a:extLst>
                  <a:ext uri="{FF2B5EF4-FFF2-40B4-BE49-F238E27FC236}">
                    <a16:creationId xmlns:a16="http://schemas.microsoft.com/office/drawing/2014/main" id="{0ACF276E-196C-4923-B7D1-48A8E6A1669C}"/>
                  </a:ext>
                </a:extLst>
              </p:cNvPr>
              <p:cNvSpPr/>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Freeform: Shape 23">
                <a:extLst>
                  <a:ext uri="{FF2B5EF4-FFF2-40B4-BE49-F238E27FC236}">
                    <a16:creationId xmlns:a16="http://schemas.microsoft.com/office/drawing/2014/main" id="{FFE3686C-DFF6-4995-81B8-FA38F5BB0401}"/>
                  </a:ext>
                </a:extLst>
              </p:cNvPr>
              <p:cNvSpPr/>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5" name="Group 24">
                <a:extLst>
                  <a:ext uri="{FF2B5EF4-FFF2-40B4-BE49-F238E27FC236}">
                    <a16:creationId xmlns:a16="http://schemas.microsoft.com/office/drawing/2014/main" id="{9DCBF653-CCB9-47B2-9DD9-68847A45D82D}"/>
                  </a:ext>
                </a:extLst>
              </p:cNvPr>
              <p:cNvGrpSpPr/>
              <p:nvPr/>
            </p:nvGrpSpPr>
            <p:grpSpPr>
              <a:xfrm>
                <a:off x="2440769" y="2384401"/>
                <a:ext cx="313009" cy="1032464"/>
                <a:chOff x="2440769" y="2384401"/>
                <a:chExt cx="313009" cy="1032464"/>
              </a:xfrm>
            </p:grpSpPr>
            <p:cxnSp>
              <p:nvCxnSpPr>
                <p:cNvPr id="26" name="Straight Connector 25">
                  <a:extLst>
                    <a:ext uri="{FF2B5EF4-FFF2-40B4-BE49-F238E27FC236}">
                      <a16:creationId xmlns:a16="http://schemas.microsoft.com/office/drawing/2014/main" id="{7F081A1F-C7C9-4907-AAED-B4E9B64973FB}"/>
                    </a:ext>
                  </a:extLst>
                </p:cNvPr>
                <p:cNvCxnSpPr>
                  <a:cxnSpLocks/>
                </p:cNvCxnSpPr>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4F8F89A-0719-4D9A-8379-9EEBD7201052}"/>
                    </a:ext>
                  </a:extLst>
                </p:cNvPr>
                <p:cNvCxnSpPr>
                  <a:cxnSpLocks/>
                </p:cNvCxnSpPr>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30" name="Group 29">
            <a:extLst>
              <a:ext uri="{FF2B5EF4-FFF2-40B4-BE49-F238E27FC236}">
                <a16:creationId xmlns:a16="http://schemas.microsoft.com/office/drawing/2014/main" id="{E7AA5779-FF0F-4ACF-A56C-710A4CDEC8A3}"/>
              </a:ext>
            </a:extLst>
          </p:cNvPr>
          <p:cNvGrpSpPr/>
          <p:nvPr/>
        </p:nvGrpSpPr>
        <p:grpSpPr>
          <a:xfrm>
            <a:off x="1437136" y="649304"/>
            <a:ext cx="388541" cy="388541"/>
            <a:chOff x="5752675" y="5440856"/>
            <a:chExt cx="388541" cy="388541"/>
          </a:xfrm>
        </p:grpSpPr>
        <p:sp>
          <p:nvSpPr>
            <p:cNvPr id="31" name="Oval 30">
              <a:extLst>
                <a:ext uri="{FF2B5EF4-FFF2-40B4-BE49-F238E27FC236}">
                  <a16:creationId xmlns:a16="http://schemas.microsoft.com/office/drawing/2014/main" id="{5F0ADB13-4626-4F84-B513-0B58E65C248E}"/>
                </a:ext>
              </a:extLst>
            </p:cNvPr>
            <p:cNvSpPr/>
            <p:nvPr/>
          </p:nvSpPr>
          <p:spPr>
            <a:xfrm rot="10800000">
              <a:off x="5800801" y="5488982"/>
              <a:ext cx="340415" cy="34041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a:extLst>
                <a:ext uri="{FF2B5EF4-FFF2-40B4-BE49-F238E27FC236}">
                  <a16:creationId xmlns:a16="http://schemas.microsoft.com/office/drawing/2014/main" id="{AF46BC46-AD78-4932-95BA-D3009154CA7A}"/>
                </a:ext>
              </a:extLst>
            </p:cNvPr>
            <p:cNvSpPr/>
            <p:nvPr/>
          </p:nvSpPr>
          <p:spPr>
            <a:xfrm>
              <a:off x="5752675" y="5440856"/>
              <a:ext cx="340415" cy="340415"/>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cxnSp>
        <p:nvCxnSpPr>
          <p:cNvPr id="33" name="Straight Connector 32">
            <a:extLst>
              <a:ext uri="{FF2B5EF4-FFF2-40B4-BE49-F238E27FC236}">
                <a16:creationId xmlns:a16="http://schemas.microsoft.com/office/drawing/2014/main" id="{D38118F0-6EA8-4901-9161-9101C6DDD97E}"/>
              </a:ext>
            </a:extLst>
          </p:cNvPr>
          <p:cNvCxnSpPr>
            <a:cxnSpLocks/>
          </p:cNvCxnSpPr>
          <p:nvPr/>
        </p:nvCxnSpPr>
        <p:spPr>
          <a:xfrm rot="16200000" flipH="1">
            <a:off x="5826000" y="342900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75543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D013D-A80D-4455-B886-0C3448294C02}"/>
              </a:ext>
            </a:extLst>
          </p:cNvPr>
          <p:cNvSpPr>
            <a:spLocks noGrp="1"/>
          </p:cNvSpPr>
          <p:nvPr>
            <p:ph type="title"/>
          </p:nvPr>
        </p:nvSpPr>
        <p:spPr/>
        <p:txBody>
          <a:bodyPr/>
          <a:lstStyle>
            <a:lvl1pPr algn="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A99D3AB-20B9-4D90-8106-506F443682C8}"/>
              </a:ext>
            </a:extLst>
          </p:cNvPr>
          <p:cNvSpPr>
            <a:spLocks noGrp="1"/>
          </p:cNvSpPr>
          <p:nvPr>
            <p:ph sz="half" idx="1"/>
          </p:nvPr>
        </p:nvSpPr>
        <p:spPr>
          <a:xfrm>
            <a:off x="108585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85F9DF39-257F-4C10-A7B4-1AA1C66F28E9}"/>
              </a:ext>
            </a:extLst>
          </p:cNvPr>
          <p:cNvSpPr>
            <a:spLocks noGrp="1"/>
          </p:cNvSpPr>
          <p:nvPr>
            <p:ph sz="half" idx="2"/>
          </p:nvPr>
        </p:nvSpPr>
        <p:spPr>
          <a:xfrm>
            <a:off x="6366000" y="1790700"/>
            <a:ext cx="4740150" cy="3978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0E57E5E-B324-4633-AB65-4A53498B9FA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6" name="Footer Placeholder 5">
            <a:extLst>
              <a:ext uri="{FF2B5EF4-FFF2-40B4-BE49-F238E27FC236}">
                <a16:creationId xmlns:a16="http://schemas.microsoft.com/office/drawing/2014/main" id="{5B42A16D-8423-4C91-B839-F95380250FA3}"/>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63AD46B-C875-4F91-8991-4A4E5D768D9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728567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170C3-74D3-4445-A879-4F7CF42ED29A}"/>
              </a:ext>
            </a:extLst>
          </p:cNvPr>
          <p:cNvSpPr>
            <a:spLocks noGrp="1"/>
          </p:cNvSpPr>
          <p:nvPr>
            <p:ph type="title"/>
          </p:nvPr>
        </p:nvSpPr>
        <p:spPr>
          <a:xfrm>
            <a:off x="1079500" y="1011238"/>
            <a:ext cx="10026650" cy="655637"/>
          </a:xfrm>
        </p:spPr>
        <p:txBody>
          <a:bodyPr>
            <a:normAutofit/>
          </a:bodyPr>
          <a:lstStyle>
            <a:lvl1pPr algn="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2B64494-3C1C-49FE-ADB2-6F41CEEA82EF}"/>
              </a:ext>
            </a:extLst>
          </p:cNvPr>
          <p:cNvSpPr>
            <a:spLocks noGrp="1"/>
          </p:cNvSpPr>
          <p:nvPr>
            <p:ph type="body" idx="1"/>
          </p:nvPr>
        </p:nvSpPr>
        <p:spPr>
          <a:xfrm>
            <a:off x="107950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8EE19A6-8340-43A4-9B30-A27DEB9E2BF1}"/>
              </a:ext>
            </a:extLst>
          </p:cNvPr>
          <p:cNvSpPr>
            <a:spLocks noGrp="1"/>
          </p:cNvSpPr>
          <p:nvPr>
            <p:ph sz="half" idx="2"/>
          </p:nvPr>
        </p:nvSpPr>
        <p:spPr>
          <a:xfrm>
            <a:off x="1079500" y="2525561"/>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7B9D4B31-0090-483A-BF84-CEA2B22D51D5}"/>
              </a:ext>
            </a:extLst>
          </p:cNvPr>
          <p:cNvSpPr>
            <a:spLocks noGrp="1"/>
          </p:cNvSpPr>
          <p:nvPr>
            <p:ph type="body" sz="quarter" idx="3"/>
          </p:nvPr>
        </p:nvSpPr>
        <p:spPr>
          <a:xfrm>
            <a:off x="6364950" y="1854200"/>
            <a:ext cx="4741200" cy="553998"/>
          </a:xfrm>
        </p:spPr>
        <p:txBody>
          <a:bodyPr anchor="t" anchorCtr="0">
            <a:normAutofit/>
          </a:bodyPr>
          <a:lstStyle>
            <a:lvl1pPr marL="0" indent="0">
              <a:lnSpc>
                <a:spcPct val="100000"/>
              </a:lnSpc>
              <a:buNone/>
              <a:defRPr sz="1800" b="0" cap="all" spc="300" baseline="0">
                <a:solidFill>
                  <a:schemeClr val="tx1">
                    <a:alpha val="8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8DB9E9-0BD8-4F85-9342-5C5BA0D35CEA}"/>
              </a:ext>
            </a:extLst>
          </p:cNvPr>
          <p:cNvSpPr>
            <a:spLocks noGrp="1"/>
          </p:cNvSpPr>
          <p:nvPr>
            <p:ph sz="quarter" idx="4"/>
          </p:nvPr>
        </p:nvSpPr>
        <p:spPr>
          <a:xfrm>
            <a:off x="6364950" y="2525560"/>
            <a:ext cx="4741200" cy="32434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2AE3D3E-6168-45C3-BAB4-04FFFB9835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8" name="Footer Placeholder 7">
            <a:extLst>
              <a:ext uri="{FF2B5EF4-FFF2-40B4-BE49-F238E27FC236}">
                <a16:creationId xmlns:a16="http://schemas.microsoft.com/office/drawing/2014/main" id="{DA8F8D02-7CCF-4321-847A-CD553E52A342}"/>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9F966368-2A9A-4617-A2A9-E4E9ACD06381}"/>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195462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0855A-C7D7-455F-BD47-AB4221DD0240}"/>
              </a:ext>
            </a:extLst>
          </p:cNvPr>
          <p:cNvSpPr>
            <a:spLocks noGrp="1"/>
          </p:cNvSpPr>
          <p:nvPr>
            <p:ph type="title"/>
          </p:nvPr>
        </p:nvSpPr>
        <p:spPr>
          <a:xfrm>
            <a:off x="1079500" y="1079500"/>
            <a:ext cx="10026650" cy="4689475"/>
          </a:xfrm>
        </p:spPr>
        <p:txBody>
          <a:bodyPr anchor="ctr"/>
          <a:lstStyle>
            <a:lvl1pPr algn="ctr">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1629F6FD-C2F8-4688-B52A-ED76F48B8B4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4" name="Footer Placeholder 3">
            <a:extLst>
              <a:ext uri="{FF2B5EF4-FFF2-40B4-BE49-F238E27FC236}">
                <a16:creationId xmlns:a16="http://schemas.microsoft.com/office/drawing/2014/main" id="{AB358F0F-237C-4F8E-A5A7-48269F700B1D}"/>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68C3629E-70C3-44A4-A268-2194CD424AF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869305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0232D4-EC56-49D3-B967-D972B5E5E2C1}"/>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3" name="Footer Placeholder 2">
            <a:extLst>
              <a:ext uri="{FF2B5EF4-FFF2-40B4-BE49-F238E27FC236}">
                <a16:creationId xmlns:a16="http://schemas.microsoft.com/office/drawing/2014/main" id="{0B2C3171-136A-405F-B1CF-C0DAFAA21E4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76523E7E-BA29-40D2-BE24-10E7F7050409}"/>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464702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607EF-706F-47DD-B487-7C3E4EDE1945}"/>
              </a:ext>
            </a:extLst>
          </p:cNvPr>
          <p:cNvSpPr>
            <a:spLocks noGrp="1"/>
          </p:cNvSpPr>
          <p:nvPr>
            <p:ph type="title"/>
          </p:nvPr>
        </p:nvSpPr>
        <p:spPr>
          <a:xfrm>
            <a:off x="1071607" y="1011238"/>
            <a:ext cx="3906000" cy="1292400"/>
          </a:xfrm>
        </p:spPr>
        <p:txBody>
          <a:bodyPr anchor="t" anchorCtr="0">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8298442-7D9F-4D62-866B-FBA382F06C4C}"/>
              </a:ext>
            </a:extLst>
          </p:cNvPr>
          <p:cNvSpPr>
            <a:spLocks noGrp="1"/>
          </p:cNvSpPr>
          <p:nvPr>
            <p:ph idx="1"/>
          </p:nvPr>
        </p:nvSpPr>
        <p:spPr>
          <a:xfrm>
            <a:off x="5537200" y="955230"/>
            <a:ext cx="5583193" cy="4813745"/>
          </a:xfrm>
        </p:spPr>
        <p:txBody>
          <a:bodyPr/>
          <a:lstStyle>
            <a:lvl1pPr marL="0" indent="0">
              <a:lnSpc>
                <a:spcPct val="100000"/>
              </a:lnSpc>
              <a:buFontTx/>
              <a:buNone/>
              <a:defRPr sz="4800"/>
            </a:lvl1pPr>
            <a:lvl2pPr marL="0">
              <a:lnSpc>
                <a:spcPct val="100000"/>
              </a:lnSpc>
              <a:defRPr sz="4800"/>
            </a:lvl2pPr>
            <a:lvl3pPr marL="0" indent="0">
              <a:buNone/>
              <a:defRPr sz="2000"/>
            </a:lvl3pPr>
            <a:lvl4pPr marL="0">
              <a:defRPr sz="2000"/>
            </a:lvl4pPr>
            <a:lvl5pPr marL="360000">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67D1DB7-AC43-460E-B3C5-9F8B37D1B50A}"/>
              </a:ext>
            </a:extLst>
          </p:cNvPr>
          <p:cNvSpPr>
            <a:spLocks noGrp="1"/>
          </p:cNvSpPr>
          <p:nvPr>
            <p:ph type="body" sz="half" idx="2"/>
          </p:nvPr>
        </p:nvSpPr>
        <p:spPr>
          <a:xfrm>
            <a:off x="1079499" y="2664000"/>
            <a:ext cx="3905999" cy="310680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0C5DE9-6995-4F6E-AF64-6CE9A677971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6" name="Footer Placeholder 5">
            <a:extLst>
              <a:ext uri="{FF2B5EF4-FFF2-40B4-BE49-F238E27FC236}">
                <a16:creationId xmlns:a16="http://schemas.microsoft.com/office/drawing/2014/main" id="{388BC655-2B4D-48CA-90B9-740400332295}"/>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1314A7E0-1D83-4CE0-9FFE-3EEE2B3C27E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784457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4F7F85-950A-4BED-AE31-5C85DE4FA488}"/>
              </a:ext>
            </a:extLst>
          </p:cNvPr>
          <p:cNvSpPr>
            <a:spLocks noGrp="1"/>
          </p:cNvSpPr>
          <p:nvPr>
            <p:ph type="title"/>
          </p:nvPr>
        </p:nvSpPr>
        <p:spPr>
          <a:xfrm>
            <a:off x="1079501" y="1011238"/>
            <a:ext cx="3905250" cy="1292662"/>
          </a:xfrm>
        </p:spPr>
        <p:txBody>
          <a:bodyPr anchor="t" anchorCtr="0">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6813A008-3741-4305-8A06-C0D8404A32BB}"/>
              </a:ext>
            </a:extLst>
          </p:cNvPr>
          <p:cNvSpPr>
            <a:spLocks noGrp="1"/>
          </p:cNvSpPr>
          <p:nvPr>
            <p:ph type="pic" idx="1"/>
          </p:nvPr>
        </p:nvSpPr>
        <p:spPr>
          <a:xfrm>
            <a:off x="5537200" y="531813"/>
            <a:ext cx="6113812" cy="578484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F2ADC63-3365-4920-AF26-600F4D2EA579}"/>
              </a:ext>
            </a:extLst>
          </p:cNvPr>
          <p:cNvSpPr>
            <a:spLocks noGrp="1"/>
          </p:cNvSpPr>
          <p:nvPr>
            <p:ph type="body" sz="half" idx="2"/>
          </p:nvPr>
        </p:nvSpPr>
        <p:spPr>
          <a:xfrm>
            <a:off x="1079500" y="2663825"/>
            <a:ext cx="3905250" cy="3105150"/>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C161BE-EF8B-4F4D-8197-61442EBC46BD}"/>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6" name="Footer Placeholder 5">
            <a:extLst>
              <a:ext uri="{FF2B5EF4-FFF2-40B4-BE49-F238E27FC236}">
                <a16:creationId xmlns:a16="http://schemas.microsoft.com/office/drawing/2014/main" id="{9FD37897-BFE5-414E-9334-53116988DC37}"/>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3F5BF024-9A20-4B80-976D-420DCCD1616D}"/>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472970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B794F-0C7D-47A6-A355-9B54F3A082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518BEFC-5F95-43C3-A662-CF24426CB374}"/>
              </a:ext>
            </a:extLst>
          </p:cNvPr>
          <p:cNvSpPr>
            <a:spLocks noGrp="1"/>
          </p:cNvSpPr>
          <p:nvPr>
            <p:ph type="body" orient="vert" idx="1"/>
          </p:nvPr>
        </p:nvSpPr>
        <p:spPr>
          <a:xfrm>
            <a:off x="1079500" y="1790700"/>
            <a:ext cx="10026650" cy="39782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E020A41-C226-41AB-8766-C9BF3E9BF9D0}"/>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5" name="Footer Placeholder 4">
            <a:extLst>
              <a:ext uri="{FF2B5EF4-FFF2-40B4-BE49-F238E27FC236}">
                <a16:creationId xmlns:a16="http://schemas.microsoft.com/office/drawing/2014/main" id="{877795E9-017B-4505-810D-A5F553A56BC9}"/>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626A1BD-3429-4C11-B230-8AD083EC3EC2}"/>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370467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A11CA2-18BF-408B-A40C-B43A0A7B80FA}"/>
              </a:ext>
            </a:extLst>
          </p:cNvPr>
          <p:cNvSpPr>
            <a:spLocks noGrp="1"/>
          </p:cNvSpPr>
          <p:nvPr>
            <p:ph type="title" orient="vert"/>
          </p:nvPr>
        </p:nvSpPr>
        <p:spPr>
          <a:xfrm>
            <a:off x="9899079" y="1079500"/>
            <a:ext cx="1292662" cy="4689476"/>
          </a:xfrm>
        </p:spPr>
        <p:txBody>
          <a:bodyPr vert="eaVert">
            <a:normAutofit/>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E424B6-12FC-41A1-AF7C-7E3931D97204}"/>
              </a:ext>
            </a:extLst>
          </p:cNvPr>
          <p:cNvSpPr>
            <a:spLocks noGrp="1"/>
          </p:cNvSpPr>
          <p:nvPr>
            <p:ph type="body" orient="vert" idx="1"/>
          </p:nvPr>
        </p:nvSpPr>
        <p:spPr>
          <a:xfrm>
            <a:off x="1079499" y="1079500"/>
            <a:ext cx="8495943" cy="468947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5CF957-F921-48CF-97FE-91190C1AE9B3}"/>
              </a:ext>
            </a:extLst>
          </p:cNvPr>
          <p:cNvSpPr>
            <a:spLocks noGrp="1"/>
          </p:cNvSpPr>
          <p:nvPr>
            <p:ph type="dt" sz="half" idx="10"/>
          </p:nvPr>
        </p:nvSpPr>
        <p:spPr>
          <a:xfrm>
            <a:off x="541338" y="6401999"/>
            <a:ext cx="2206625" cy="369332"/>
          </a:xfrm>
          <a:prstGeom prst="rect">
            <a:avLst/>
          </a:prstGeom>
        </p:spPr>
        <p:txBody>
          <a:bodyPr/>
          <a:lstStyle/>
          <a:p>
            <a:fld id="{64F0E216-BA48-4F04-AC4F-645AA0DD6AC6}" type="datetimeFigureOut">
              <a:rPr lang="en-US" smtClean="0"/>
              <a:t>4/27/2026</a:t>
            </a:fld>
            <a:endParaRPr lang="en-US"/>
          </a:p>
        </p:txBody>
      </p:sp>
      <p:sp>
        <p:nvSpPr>
          <p:cNvPr id="5" name="Footer Placeholder 4">
            <a:extLst>
              <a:ext uri="{FF2B5EF4-FFF2-40B4-BE49-F238E27FC236}">
                <a16:creationId xmlns:a16="http://schemas.microsoft.com/office/drawing/2014/main" id="{6653F49D-6E0C-47F7-BAAD-A427913DC4D1}"/>
              </a:ext>
            </a:extLst>
          </p:cNvPr>
          <p:cNvSpPr>
            <a:spLocks noGrp="1"/>
          </p:cNvSpPr>
          <p:nvPr>
            <p:ph type="ftr" sz="quarter" idx="11"/>
          </p:nvPr>
        </p:nvSpPr>
        <p:spPr>
          <a:xfrm>
            <a:off x="3308350" y="6401999"/>
            <a:ext cx="5575300" cy="369332"/>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A122-F390-46CF-BECF-3AE05CA585C4}"/>
              </a:ext>
            </a:extLst>
          </p:cNvPr>
          <p:cNvSpPr>
            <a:spLocks noGrp="1"/>
          </p:cNvSpPr>
          <p:nvPr>
            <p:ph type="sldNum" sz="quarter" idx="12"/>
          </p:nvPr>
        </p:nvSpPr>
        <p:spPr>
          <a:xfrm>
            <a:off x="9442800" y="6401999"/>
            <a:ext cx="2208212" cy="369332"/>
          </a:xfrm>
          <a:prstGeom prst="rect">
            <a:avLst/>
          </a:prstGeom>
        </p:spPr>
        <p:txBody>
          <a:bodyPr/>
          <a:lstStyle/>
          <a:p>
            <a:fld id="{D39607A7-8386-47DB-8578-DDEDD194E5D4}" type="slidenum">
              <a:rPr lang="en-US" smtClean="0"/>
              <a:t>‹#›</a:t>
            </a:fld>
            <a:endParaRPr lang="en-US"/>
          </a:p>
        </p:txBody>
      </p:sp>
    </p:spTree>
    <p:extLst>
      <p:ext uri="{BB962C8B-B14F-4D97-AF65-F5344CB8AC3E}">
        <p14:creationId xmlns:p14="http://schemas.microsoft.com/office/powerpoint/2010/main" val="24817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C700152-D18D-4405-8FB2-5985831B57A0}"/>
              </a:ext>
            </a:extLst>
          </p:cNvPr>
          <p:cNvSpPr>
            <a:spLocks noGrp="1"/>
          </p:cNvSpPr>
          <p:nvPr>
            <p:ph type="title"/>
          </p:nvPr>
        </p:nvSpPr>
        <p:spPr>
          <a:xfrm>
            <a:off x="1079500" y="1011238"/>
            <a:ext cx="10026650" cy="655637"/>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22E92E1-0C4A-474E-8E29-8DB404101BA7}"/>
              </a:ext>
            </a:extLst>
          </p:cNvPr>
          <p:cNvSpPr>
            <a:spLocks noGrp="1"/>
          </p:cNvSpPr>
          <p:nvPr>
            <p:ph type="body" idx="1"/>
          </p:nvPr>
        </p:nvSpPr>
        <p:spPr>
          <a:xfrm>
            <a:off x="1079500" y="1790700"/>
            <a:ext cx="10026650" cy="3978275"/>
          </a:xfrm>
          <a:prstGeom prst="rect">
            <a:avLst/>
          </a:prstGeom>
        </p:spPr>
        <p:txBody>
          <a:bodyPr vert="horz" lIns="0" tIns="0" rIns="0" bIns="0" rtlCol="0" anchor="t" anchorCtr="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122E245-B48B-4526-8D2D-9475E64B0624}"/>
              </a:ext>
            </a:extLst>
          </p:cNvPr>
          <p:cNvSpPr>
            <a:spLocks noGrp="1"/>
          </p:cNvSpPr>
          <p:nvPr>
            <p:ph type="dt" sz="half" idx="2"/>
          </p:nvPr>
        </p:nvSpPr>
        <p:spPr>
          <a:xfrm>
            <a:off x="541338" y="6401999"/>
            <a:ext cx="2206625" cy="369332"/>
          </a:xfrm>
          <a:prstGeom prst="rect">
            <a:avLst/>
          </a:prstGeom>
        </p:spPr>
        <p:txBody>
          <a:bodyPr vert="horz" lIns="0" tIns="0" rIns="0" bIns="0" rtlCol="0" anchor="ctr">
            <a:normAutofit/>
          </a:bodyPr>
          <a:lstStyle>
            <a:lvl1pPr algn="l">
              <a:defRPr sz="1000" cap="all" spc="300" baseline="0">
                <a:solidFill>
                  <a:schemeClr val="tx1">
                    <a:alpha val="70000"/>
                  </a:schemeClr>
                </a:solidFill>
              </a:defRPr>
            </a:lvl1pPr>
          </a:lstStyle>
          <a:p>
            <a:fld id="{64F0E216-BA48-4F04-AC4F-645AA0DD6AC6}" type="datetimeFigureOut">
              <a:rPr lang="en-US" smtClean="0"/>
              <a:pPr/>
              <a:t>4/27/2026</a:t>
            </a:fld>
            <a:endParaRPr lang="en-US" dirty="0"/>
          </a:p>
        </p:txBody>
      </p:sp>
      <p:sp>
        <p:nvSpPr>
          <p:cNvPr id="5" name="Footer Placeholder 4">
            <a:extLst>
              <a:ext uri="{FF2B5EF4-FFF2-40B4-BE49-F238E27FC236}">
                <a16:creationId xmlns:a16="http://schemas.microsoft.com/office/drawing/2014/main" id="{C2A0FE5C-A494-40F2-A357-786AFFA6318E}"/>
              </a:ext>
            </a:extLst>
          </p:cNvPr>
          <p:cNvSpPr>
            <a:spLocks noGrp="1"/>
          </p:cNvSpPr>
          <p:nvPr>
            <p:ph type="ftr" sz="quarter" idx="3"/>
          </p:nvPr>
        </p:nvSpPr>
        <p:spPr>
          <a:xfrm>
            <a:off x="3308350" y="6401999"/>
            <a:ext cx="5575300" cy="369332"/>
          </a:xfrm>
          <a:prstGeom prst="rect">
            <a:avLst/>
          </a:prstGeom>
        </p:spPr>
        <p:txBody>
          <a:bodyPr vert="horz" lIns="0" tIns="0" rIns="0" bIns="0" rtlCol="0" anchor="ctr">
            <a:normAutofit/>
          </a:bodyPr>
          <a:lstStyle>
            <a:lvl1pPr algn="ctr">
              <a:defRPr sz="1000" cap="all" spc="300" baseline="0">
                <a:solidFill>
                  <a:schemeClr val="tx1">
                    <a:alpha val="70000"/>
                  </a:schemeClr>
                </a:solidFill>
              </a:defRPr>
            </a:lvl1pPr>
          </a:lstStyle>
          <a:p>
            <a:endParaRPr lang="en-US" dirty="0"/>
          </a:p>
        </p:txBody>
      </p:sp>
      <p:sp>
        <p:nvSpPr>
          <p:cNvPr id="6" name="Slide Number Placeholder 5">
            <a:extLst>
              <a:ext uri="{FF2B5EF4-FFF2-40B4-BE49-F238E27FC236}">
                <a16:creationId xmlns:a16="http://schemas.microsoft.com/office/drawing/2014/main" id="{504686A1-EDE2-44D9-A671-F708A6F883D7}"/>
              </a:ext>
            </a:extLst>
          </p:cNvPr>
          <p:cNvSpPr>
            <a:spLocks noGrp="1"/>
          </p:cNvSpPr>
          <p:nvPr>
            <p:ph type="sldNum" sz="quarter" idx="4"/>
          </p:nvPr>
        </p:nvSpPr>
        <p:spPr>
          <a:xfrm>
            <a:off x="9442800" y="6401999"/>
            <a:ext cx="2208212" cy="369332"/>
          </a:xfrm>
          <a:prstGeom prst="rect">
            <a:avLst/>
          </a:prstGeom>
        </p:spPr>
        <p:txBody>
          <a:bodyPr vert="horz" lIns="0" tIns="0" rIns="0" bIns="0" rtlCol="0" anchor="ctr">
            <a:normAutofit/>
          </a:bodyPr>
          <a:lstStyle>
            <a:lvl1pPr algn="r">
              <a:defRPr sz="1000" cap="all" spc="300" baseline="0">
                <a:solidFill>
                  <a:schemeClr val="tx1">
                    <a:alpha val="70000"/>
                  </a:schemeClr>
                </a:solidFill>
              </a:defRPr>
            </a:lvl1pPr>
          </a:lstStyle>
          <a:p>
            <a:fld id="{D39607A7-8386-47DB-8578-DDEDD194E5D4}" type="slidenum">
              <a:rPr lang="en-US" smtClean="0"/>
              <a:pPr/>
              <a:t>‹#›</a:t>
            </a:fld>
            <a:endParaRPr lang="en-US" dirty="0"/>
          </a:p>
        </p:txBody>
      </p:sp>
    </p:spTree>
    <p:extLst>
      <p:ext uri="{BB962C8B-B14F-4D97-AF65-F5344CB8AC3E}">
        <p14:creationId xmlns:p14="http://schemas.microsoft.com/office/powerpoint/2010/main" val="1871521550"/>
      </p:ext>
    </p:extLst>
  </p:cSld>
  <p:clrMap bg1="dk1" tx1="lt1" bg2="dk2" tx2="lt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68" r:id="rId6"/>
    <p:sldLayoutId id="2147483764" r:id="rId7"/>
    <p:sldLayoutId id="2147483765" r:id="rId8"/>
    <p:sldLayoutId id="2147483766" r:id="rId9"/>
    <p:sldLayoutId id="2147483767" r:id="rId10"/>
    <p:sldLayoutId id="2147483769" r:id="rId11"/>
  </p:sldLayoutIdLst>
  <p:txStyles>
    <p:titleStyle>
      <a:lvl1pPr algn="l" defTabSz="914400" rtl="0" eaLnBrk="1" latinLnBrk="0" hangingPunct="1">
        <a:lnSpc>
          <a:spcPct val="100000"/>
        </a:lnSpc>
        <a:spcBef>
          <a:spcPct val="0"/>
        </a:spcBef>
        <a:buNone/>
        <a:defRPr sz="2800" kern="1200" cap="all" spc="400" baseline="0">
          <a:solidFill>
            <a:schemeClr val="tx1"/>
          </a:solidFill>
          <a:latin typeface="+mj-lt"/>
          <a:ea typeface="+mj-ea"/>
          <a:cs typeface="+mj-cs"/>
        </a:defRPr>
      </a:lvl1pPr>
    </p:titleStyle>
    <p:bodyStyle>
      <a:lvl1pPr marL="360000" indent="-360000" algn="l" defTabSz="914400" rtl="0" eaLnBrk="1" latinLnBrk="0" hangingPunct="1">
        <a:lnSpc>
          <a:spcPct val="125000"/>
        </a:lnSpc>
        <a:spcBef>
          <a:spcPts val="10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1pPr>
      <a:lvl2pPr marL="36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2pPr>
      <a:lvl3pPr marL="108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3pPr>
      <a:lvl4pPr marL="1080000" indent="0" algn="l" defTabSz="914400" rtl="0" eaLnBrk="1" latinLnBrk="0" hangingPunct="1">
        <a:lnSpc>
          <a:spcPct val="125000"/>
        </a:lnSpc>
        <a:spcBef>
          <a:spcPts val="500"/>
        </a:spcBef>
        <a:buClr>
          <a:schemeClr val="accent1">
            <a:lumMod val="60000"/>
            <a:lumOff val="40000"/>
          </a:schemeClr>
        </a:buClr>
        <a:buFontTx/>
        <a:buNone/>
        <a:defRPr sz="2000" i="1" kern="1200">
          <a:solidFill>
            <a:schemeClr val="tx1">
              <a:alpha val="70000"/>
            </a:schemeClr>
          </a:solidFill>
          <a:latin typeface="+mn-lt"/>
          <a:ea typeface="+mn-ea"/>
          <a:cs typeface="+mn-cs"/>
        </a:defRPr>
      </a:lvl4pPr>
      <a:lvl5pPr marL="1800000" indent="-360000" algn="l" defTabSz="914400" rtl="0" eaLnBrk="1" latinLnBrk="0" hangingPunct="1">
        <a:lnSpc>
          <a:spcPct val="125000"/>
        </a:lnSpc>
        <a:spcBef>
          <a:spcPts val="500"/>
        </a:spcBef>
        <a:buClr>
          <a:schemeClr val="accent1">
            <a:lumMod val="60000"/>
            <a:lumOff val="40000"/>
          </a:schemeClr>
        </a:buClr>
        <a:buFont typeface="Wingdings" panose="05000000000000000000" pitchFamily="2" charset="2"/>
        <a:buChar char=""/>
        <a:defRPr sz="20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en.wikipedia.org/wiki/Muhammad"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freelabpl.wordpress.com/2012/04/27/piszu-iz-goriaszczewo-tanka/" TargetMode="External"/><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ekinshankyslife.blogspot.com/2012/11/hijrah.html" TargetMode="External"/><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commons.wikimedia.org/wiki/File:Medina,_Saudi_Arabia_locator_map.png"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en.wikipedia.org/wiki/Green_Dome"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CA5B2A81-2C8E-4963-AFD4-E539D168B4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2E1DFF-D1AB-44F2-AD8C-0CA5D28B565F}"/>
              </a:ext>
            </a:extLst>
          </p:cNvPr>
          <p:cNvSpPr>
            <a:spLocks noGrp="1"/>
          </p:cNvSpPr>
          <p:nvPr>
            <p:ph type="ctrTitle"/>
          </p:nvPr>
        </p:nvSpPr>
        <p:spPr>
          <a:xfrm>
            <a:off x="7766050" y="1079500"/>
            <a:ext cx="3884962" cy="2138400"/>
          </a:xfrm>
        </p:spPr>
        <p:txBody>
          <a:bodyPr>
            <a:normAutofit/>
          </a:bodyPr>
          <a:lstStyle/>
          <a:p>
            <a:r>
              <a:rPr lang="en-GB" dirty="0"/>
              <a:t>Life of Muhammad</a:t>
            </a:r>
            <a:endParaRPr lang="en-GB"/>
          </a:p>
        </p:txBody>
      </p:sp>
      <p:sp>
        <p:nvSpPr>
          <p:cNvPr id="3" name="Subtitle 2">
            <a:extLst>
              <a:ext uri="{FF2B5EF4-FFF2-40B4-BE49-F238E27FC236}">
                <a16:creationId xmlns:a16="http://schemas.microsoft.com/office/drawing/2014/main" id="{F3EFE8A3-9755-4C42-8D2E-3EB3D4E6B871}"/>
              </a:ext>
            </a:extLst>
          </p:cNvPr>
          <p:cNvSpPr>
            <a:spLocks noGrp="1"/>
          </p:cNvSpPr>
          <p:nvPr>
            <p:ph type="subTitle" idx="1"/>
          </p:nvPr>
        </p:nvSpPr>
        <p:spPr>
          <a:xfrm>
            <a:off x="7766051" y="4113213"/>
            <a:ext cx="3884961" cy="1655762"/>
          </a:xfrm>
        </p:spPr>
        <p:txBody>
          <a:bodyPr>
            <a:normAutofit/>
          </a:bodyPr>
          <a:lstStyle/>
          <a:p>
            <a:endParaRPr lang="en-GB"/>
          </a:p>
        </p:txBody>
      </p:sp>
      <p:sp>
        <p:nvSpPr>
          <p:cNvPr id="42" name="Rectangle 5">
            <a:extLst>
              <a:ext uri="{FF2B5EF4-FFF2-40B4-BE49-F238E27FC236}">
                <a16:creationId xmlns:a16="http://schemas.microsoft.com/office/drawing/2014/main" id="{6828D311-B582-473B-A71A-00BAEFDDF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443748" y="443198"/>
            <a:ext cx="6660000" cy="576000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Lst>
            <a:ahLst/>
            <a:cxnLst>
              <a:cxn ang="0">
                <a:pos x="connsiteX0" y="connsiteY0"/>
              </a:cxn>
              <a:cxn ang="0">
                <a:pos x="connsiteX1" y="connsiteY1"/>
              </a:cxn>
              <a:cxn ang="0">
                <a:pos x="connsiteX2" y="connsiteY2"/>
              </a:cxn>
            </a:cxnLst>
            <a:rect l="l" t="t" r="r" b="b"/>
            <a:pathLst>
              <a:path w="6660000" h="5760000">
                <a:moveTo>
                  <a:pt x="6660000" y="5760000"/>
                </a:moveTo>
                <a:lnTo>
                  <a:pt x="0" y="5760000"/>
                </a:lnTo>
                <a:lnTo>
                  <a:pt x="0"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936B7EE8-6E4E-474F-9C3B-FF0D5EEA5D12}"/>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5439" r="7970"/>
          <a:stretch/>
        </p:blipFill>
        <p:spPr>
          <a:xfrm>
            <a:off x="540988" y="540000"/>
            <a:ext cx="6671025" cy="5778000"/>
          </a:xfrm>
          <a:prstGeom prst="rect">
            <a:avLst/>
          </a:prstGeom>
        </p:spPr>
      </p:pic>
      <p:cxnSp>
        <p:nvCxnSpPr>
          <p:cNvPr id="44" name="Straight Connector 43">
            <a:extLst>
              <a:ext uri="{FF2B5EF4-FFF2-40B4-BE49-F238E27FC236}">
                <a16:creationId xmlns:a16="http://schemas.microsoft.com/office/drawing/2014/main" id="{9E7C23BC-DAA6-40E1-8166-B8C4439D1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438531" y="3690871"/>
            <a:ext cx="540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6" name="Rectangle 5">
            <a:extLst>
              <a:ext uri="{FF2B5EF4-FFF2-40B4-BE49-F238E27FC236}">
                <a16:creationId xmlns:a16="http://schemas.microsoft.com/office/drawing/2014/main" id="{950B4532-90B0-4F38-8B86-C84A0416E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443748" y="6203198"/>
            <a:ext cx="6660000" cy="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 name="connsiteX0" fmla="*/ 6660000 w 6660000"/>
              <a:gd name="connsiteY0" fmla="*/ 0 h 0"/>
              <a:gd name="connsiteX1" fmla="*/ 0 w 6660000"/>
              <a:gd name="connsiteY1" fmla="*/ 0 h 0"/>
            </a:gdLst>
            <a:ahLst/>
            <a:cxnLst>
              <a:cxn ang="0">
                <a:pos x="connsiteX0" y="connsiteY0"/>
              </a:cxn>
              <a:cxn ang="0">
                <a:pos x="connsiteX1" y="connsiteY1"/>
              </a:cxn>
            </a:cxnLst>
            <a:rect l="l" t="t" r="r" b="b"/>
            <a:pathLst>
              <a:path w="6660000">
                <a:moveTo>
                  <a:pt x="6660000" y="0"/>
                </a:moveTo>
                <a:lnTo>
                  <a:pt x="0" y="0"/>
                </a:lnTo>
              </a:path>
            </a:pathLst>
          </a:custGeom>
          <a:solidFill>
            <a:schemeClr val="tx2">
              <a:alpha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5">
            <a:extLst>
              <a:ext uri="{FF2B5EF4-FFF2-40B4-BE49-F238E27FC236}">
                <a16:creationId xmlns:a16="http://schemas.microsoft.com/office/drawing/2014/main" id="{5B28FD85-59C0-44FE-822A-75F0E9D2EE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7103748" y="443198"/>
            <a:ext cx="0" cy="576000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 name="connsiteX0" fmla="*/ 0 w 0"/>
              <a:gd name="connsiteY0" fmla="*/ 5760000 h 5760000"/>
              <a:gd name="connsiteX1" fmla="*/ 0 w 0"/>
              <a:gd name="connsiteY1" fmla="*/ 0 h 5760000"/>
            </a:gdLst>
            <a:ahLst/>
            <a:cxnLst>
              <a:cxn ang="0">
                <a:pos x="connsiteX0" y="connsiteY0"/>
              </a:cxn>
              <a:cxn ang="0">
                <a:pos x="connsiteX1" y="connsiteY1"/>
              </a:cxn>
            </a:cxnLst>
            <a:rect l="l" t="t" r="r" b="b"/>
            <a:pathLst>
              <a:path h="5760000">
                <a:moveTo>
                  <a:pt x="0" y="5760000"/>
                </a:moveTo>
                <a:lnTo>
                  <a:pt x="0" y="0"/>
                </a:lnTo>
              </a:path>
            </a:pathLst>
          </a:custGeom>
          <a:solidFill>
            <a:schemeClr val="tx2">
              <a:alpha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19986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DCFBD7-5612-480F-BED3-7820176A5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7A42DD-8EC6-445B-8240-489D3C735A76}"/>
              </a:ext>
            </a:extLst>
          </p:cNvPr>
          <p:cNvSpPr>
            <a:spLocks noGrp="1"/>
          </p:cNvSpPr>
          <p:nvPr>
            <p:ph type="title"/>
          </p:nvPr>
        </p:nvSpPr>
        <p:spPr>
          <a:xfrm>
            <a:off x="1080000" y="1666874"/>
            <a:ext cx="4457200" cy="3521075"/>
          </a:xfrm>
        </p:spPr>
        <p:txBody>
          <a:bodyPr anchor="ctr">
            <a:normAutofit/>
          </a:bodyPr>
          <a:lstStyle/>
          <a:p>
            <a:pPr algn="ctr"/>
            <a:r>
              <a:rPr lang="en-GB"/>
              <a:t>Key Events</a:t>
            </a:r>
          </a:p>
        </p:txBody>
      </p:sp>
      <p:grpSp>
        <p:nvGrpSpPr>
          <p:cNvPr id="10" name="Group 9">
            <a:extLst>
              <a:ext uri="{FF2B5EF4-FFF2-40B4-BE49-F238E27FC236}">
                <a16:creationId xmlns:a16="http://schemas.microsoft.com/office/drawing/2014/main" id="{263531A3-FAAF-4F5C-AF87-916460053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0671" y="408462"/>
            <a:ext cx="913428" cy="1032464"/>
            <a:chOff x="999771" y="932104"/>
            <a:chExt cx="913428" cy="1032464"/>
          </a:xfrm>
        </p:grpSpPr>
        <p:grpSp>
          <p:nvGrpSpPr>
            <p:cNvPr id="11" name="Group 10">
              <a:extLst>
                <a:ext uri="{FF2B5EF4-FFF2-40B4-BE49-F238E27FC236}">
                  <a16:creationId xmlns:a16="http://schemas.microsoft.com/office/drawing/2014/main" id="{F09EC0F0-36F6-475A-B313-91019F46E4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18" name="Freeform: Shape 17">
                <a:extLst>
                  <a:ext uri="{FF2B5EF4-FFF2-40B4-BE49-F238E27FC236}">
                    <a16:creationId xmlns:a16="http://schemas.microsoft.com/office/drawing/2014/main" id="{3E720176-168D-4875-B380-1FFAD166CC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6C3DF9F2-65C8-4063-9164-2DBD90E2A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2" name="Group 11">
              <a:extLst>
                <a:ext uri="{FF2B5EF4-FFF2-40B4-BE49-F238E27FC236}">
                  <a16:creationId xmlns:a16="http://schemas.microsoft.com/office/drawing/2014/main" id="{1DB23F83-9229-4C60-938A-F2CF20C27F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3" name="Freeform: Shape 12">
                <a:extLst>
                  <a:ext uri="{FF2B5EF4-FFF2-40B4-BE49-F238E27FC236}">
                    <a16:creationId xmlns:a16="http://schemas.microsoft.com/office/drawing/2014/main" id="{1ED4C557-D730-47E9-AC8A-884190A4E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Freeform: Shape 13">
                <a:extLst>
                  <a:ext uri="{FF2B5EF4-FFF2-40B4-BE49-F238E27FC236}">
                    <a16:creationId xmlns:a16="http://schemas.microsoft.com/office/drawing/2014/main" id="{8AA1D3F0-72CD-4C7B-8C03-2A50531F9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5" name="Group 14">
                <a:extLst>
                  <a:ext uri="{FF2B5EF4-FFF2-40B4-BE49-F238E27FC236}">
                    <a16:creationId xmlns:a16="http://schemas.microsoft.com/office/drawing/2014/main" id="{129409EB-5515-4925-83E4-F7C979ED0B2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16" name="Straight Connector 15">
                  <a:extLst>
                    <a:ext uri="{FF2B5EF4-FFF2-40B4-BE49-F238E27FC236}">
                      <a16:creationId xmlns:a16="http://schemas.microsoft.com/office/drawing/2014/main" id="{2E18C444-B7B2-4918-AD29-D6CD204E58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974E9A-69BC-4453-9A9D-6036790B37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3" name="Content Placeholder 2">
            <a:extLst>
              <a:ext uri="{FF2B5EF4-FFF2-40B4-BE49-F238E27FC236}">
                <a16:creationId xmlns:a16="http://schemas.microsoft.com/office/drawing/2014/main" id="{20A18FAD-2B61-4F45-95C3-8C0BD5BA7E7C}"/>
              </a:ext>
            </a:extLst>
          </p:cNvPr>
          <p:cNvSpPr>
            <a:spLocks noGrp="1"/>
          </p:cNvSpPr>
          <p:nvPr>
            <p:ph idx="1"/>
          </p:nvPr>
        </p:nvSpPr>
        <p:spPr>
          <a:xfrm>
            <a:off x="6654800" y="1079499"/>
            <a:ext cx="4667255" cy="4979332"/>
          </a:xfrm>
        </p:spPr>
        <p:txBody>
          <a:bodyPr anchor="ctr">
            <a:normAutofit/>
          </a:bodyPr>
          <a:lstStyle/>
          <a:p>
            <a:pPr>
              <a:lnSpc>
                <a:spcPct val="115000"/>
              </a:lnSpc>
            </a:pPr>
            <a:r>
              <a:rPr lang="en-GB" sz="1800" dirty="0"/>
              <a:t>c. </a:t>
            </a:r>
            <a:r>
              <a:rPr lang="en-GB" sz="1800" b="1" dirty="0"/>
              <a:t>570</a:t>
            </a:r>
            <a:r>
              <a:rPr lang="en-GB" sz="1800" dirty="0"/>
              <a:t> – Birth of Prophet Muhammad</a:t>
            </a:r>
          </a:p>
          <a:p>
            <a:pPr>
              <a:lnSpc>
                <a:spcPct val="115000"/>
              </a:lnSpc>
            </a:pPr>
            <a:r>
              <a:rPr lang="en-GB" sz="1800" b="1" dirty="0"/>
              <a:t>610</a:t>
            </a:r>
            <a:r>
              <a:rPr lang="en-GB" sz="1800" dirty="0"/>
              <a:t> – Muhammad receives first Revelation at Mt. Hira</a:t>
            </a:r>
          </a:p>
          <a:p>
            <a:pPr>
              <a:lnSpc>
                <a:spcPct val="115000"/>
              </a:lnSpc>
            </a:pPr>
            <a:r>
              <a:rPr lang="en-GB" sz="1800" b="1" dirty="0"/>
              <a:t>613</a:t>
            </a:r>
            <a:r>
              <a:rPr lang="en-GB" sz="1800" dirty="0"/>
              <a:t> – Muhammad begins to proclaim Islam publicly</a:t>
            </a:r>
          </a:p>
          <a:p>
            <a:pPr>
              <a:lnSpc>
                <a:spcPct val="115000"/>
              </a:lnSpc>
            </a:pPr>
            <a:r>
              <a:rPr lang="en-GB" sz="1800" b="1" dirty="0"/>
              <a:t>619</a:t>
            </a:r>
            <a:r>
              <a:rPr lang="en-GB" sz="1800" dirty="0"/>
              <a:t> – Death of Khadija (Muhammad’s wife) and Abu Talib (Muhammad’s uncle and protector)</a:t>
            </a:r>
          </a:p>
          <a:p>
            <a:pPr>
              <a:lnSpc>
                <a:spcPct val="115000"/>
              </a:lnSpc>
            </a:pPr>
            <a:r>
              <a:rPr lang="en-GB" sz="1800" b="1" dirty="0"/>
              <a:t>622</a:t>
            </a:r>
            <a:r>
              <a:rPr lang="en-GB" sz="1800" dirty="0"/>
              <a:t> – The Hijra – emigration to Yathrib</a:t>
            </a:r>
          </a:p>
          <a:p>
            <a:pPr>
              <a:lnSpc>
                <a:spcPct val="115000"/>
              </a:lnSpc>
            </a:pPr>
            <a:r>
              <a:rPr lang="en-GB" sz="1800" b="1" dirty="0"/>
              <a:t>630</a:t>
            </a:r>
            <a:r>
              <a:rPr lang="en-GB" sz="1800" dirty="0"/>
              <a:t> – Muhammad victory over Quraysh &amp; Muslim occupation of Makkah</a:t>
            </a:r>
          </a:p>
          <a:p>
            <a:pPr>
              <a:lnSpc>
                <a:spcPct val="115000"/>
              </a:lnSpc>
            </a:pPr>
            <a:r>
              <a:rPr lang="en-GB" sz="1800" b="1" dirty="0"/>
              <a:t>632</a:t>
            </a:r>
            <a:r>
              <a:rPr lang="en-GB" sz="1800" dirty="0"/>
              <a:t> – Last Sermon &amp; Death of Muhammad</a:t>
            </a:r>
          </a:p>
        </p:txBody>
      </p:sp>
      <p:grpSp>
        <p:nvGrpSpPr>
          <p:cNvPr id="21" name="Group 20">
            <a:extLst>
              <a:ext uri="{FF2B5EF4-FFF2-40B4-BE49-F238E27FC236}">
                <a16:creationId xmlns:a16="http://schemas.microsoft.com/office/drawing/2014/main" id="{F73511A5-69DC-406F-AFE1-A7248A4CEA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27954" y="5402020"/>
            <a:ext cx="912571" cy="1032464"/>
            <a:chOff x="5329995" y="4868671"/>
            <a:chExt cx="912571" cy="1032464"/>
          </a:xfrm>
        </p:grpSpPr>
        <p:grpSp>
          <p:nvGrpSpPr>
            <p:cNvPr id="22" name="Group 21">
              <a:extLst>
                <a:ext uri="{FF2B5EF4-FFF2-40B4-BE49-F238E27FC236}">
                  <a16:creationId xmlns:a16="http://schemas.microsoft.com/office/drawing/2014/main" id="{8D1B5CB3-BCAF-4109-B9F9-5FC34D383C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V="1">
              <a:off x="5376824" y="5010722"/>
              <a:ext cx="865742" cy="628383"/>
              <a:chOff x="558167" y="958515"/>
              <a:chExt cx="865742" cy="628383"/>
            </a:xfrm>
            <a:solidFill>
              <a:schemeClr val="accent3"/>
            </a:solidFill>
          </p:grpSpPr>
          <p:sp>
            <p:nvSpPr>
              <p:cNvPr id="29" name="Freeform: Shape 28">
                <a:extLst>
                  <a:ext uri="{FF2B5EF4-FFF2-40B4-BE49-F238E27FC236}">
                    <a16:creationId xmlns:a16="http://schemas.microsoft.com/office/drawing/2014/main" id="{1A1D338F-12B9-476D-9D9C-E55E4123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Freeform: Shape 29">
                <a:extLst>
                  <a:ext uri="{FF2B5EF4-FFF2-40B4-BE49-F238E27FC236}">
                    <a16:creationId xmlns:a16="http://schemas.microsoft.com/office/drawing/2014/main" id="{65EF7F9B-7A42-4B15-8511-C2968A4FE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3" name="Group 22">
              <a:extLst>
                <a:ext uri="{FF2B5EF4-FFF2-40B4-BE49-F238E27FC236}">
                  <a16:creationId xmlns:a16="http://schemas.microsoft.com/office/drawing/2014/main" id="{B1952DB7-91C4-4C9C-AEC9-7DBA47F2F54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flipV="1">
              <a:off x="5329995" y="4868671"/>
              <a:ext cx="864005" cy="1032464"/>
              <a:chOff x="2207971" y="2384401"/>
              <a:chExt cx="864005" cy="1032464"/>
            </a:xfrm>
          </p:grpSpPr>
          <p:sp>
            <p:nvSpPr>
              <p:cNvPr id="24" name="Freeform: Shape 23">
                <a:extLst>
                  <a:ext uri="{FF2B5EF4-FFF2-40B4-BE49-F238E27FC236}">
                    <a16:creationId xmlns:a16="http://schemas.microsoft.com/office/drawing/2014/main" id="{1C2A575A-5190-4DE4-9DFE-F5974353EF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Freeform: Shape 24">
                <a:extLst>
                  <a:ext uri="{FF2B5EF4-FFF2-40B4-BE49-F238E27FC236}">
                    <a16:creationId xmlns:a16="http://schemas.microsoft.com/office/drawing/2014/main" id="{3C7150A2-FFA7-4F7C-81C9-2FA3803FA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6" name="Group 25">
                <a:extLst>
                  <a:ext uri="{FF2B5EF4-FFF2-40B4-BE49-F238E27FC236}">
                    <a16:creationId xmlns:a16="http://schemas.microsoft.com/office/drawing/2014/main" id="{A7E7BC8E-8EF0-45B0-AE3F-6A6B7316C0D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7" name="Straight Connector 26">
                  <a:extLst>
                    <a:ext uri="{FF2B5EF4-FFF2-40B4-BE49-F238E27FC236}">
                      <a16:creationId xmlns:a16="http://schemas.microsoft.com/office/drawing/2014/main" id="{B8E09A32-931A-4C38-A558-274FA30070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0988A58-B96D-4381-A625-6822161B21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198392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A6B83-01BB-422A-ADB5-764A72B7B57A}"/>
              </a:ext>
            </a:extLst>
          </p:cNvPr>
          <p:cNvSpPr>
            <a:spLocks noGrp="1"/>
          </p:cNvSpPr>
          <p:nvPr>
            <p:ph type="title"/>
          </p:nvPr>
        </p:nvSpPr>
        <p:spPr>
          <a:xfrm>
            <a:off x="6513788" y="365125"/>
            <a:ext cx="4840010" cy="1807305"/>
          </a:xfrm>
        </p:spPr>
        <p:txBody>
          <a:bodyPr>
            <a:normAutofit/>
          </a:bodyPr>
          <a:lstStyle/>
          <a:p>
            <a:r>
              <a:rPr lang="en-GB" dirty="0"/>
              <a:t>Muhammad early life</a:t>
            </a:r>
          </a:p>
        </p:txBody>
      </p:sp>
      <p:pic>
        <p:nvPicPr>
          <p:cNvPr id="8" name="Picture 7">
            <a:extLst>
              <a:ext uri="{FF2B5EF4-FFF2-40B4-BE49-F238E27FC236}">
                <a16:creationId xmlns:a16="http://schemas.microsoft.com/office/drawing/2014/main" id="{6CC3DF2C-5F46-4119-80BD-939397C5F7E3}"/>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4784" r="15682" b="-1"/>
          <a:stretch/>
        </p:blipFill>
        <p:spPr>
          <a:xfrm>
            <a:off x="2" y="10"/>
            <a:ext cx="6116569" cy="6857990"/>
          </a:xfrm>
          <a:custGeom>
            <a:avLst/>
            <a:gdLst/>
            <a:ahLst/>
            <a:cxnLst/>
            <a:rect l="l" t="t" r="r" b="b"/>
            <a:pathLst>
              <a:path w="6116569" h="6879321">
                <a:moveTo>
                  <a:pt x="0" y="0"/>
                </a:moveTo>
                <a:lnTo>
                  <a:pt x="2935851" y="0"/>
                </a:lnTo>
                <a:cubicBezTo>
                  <a:pt x="3035710" y="10660"/>
                  <a:pt x="3138421" y="17767"/>
                  <a:pt x="3238280" y="31980"/>
                </a:cubicBezTo>
                <a:cubicBezTo>
                  <a:pt x="3817462" y="106602"/>
                  <a:pt x="3127009" y="277163"/>
                  <a:pt x="3660541" y="550772"/>
                </a:cubicBezTo>
                <a:cubicBezTo>
                  <a:pt x="3706191" y="575645"/>
                  <a:pt x="3757546" y="579199"/>
                  <a:pt x="3808902" y="589860"/>
                </a:cubicBezTo>
                <a:cubicBezTo>
                  <a:pt x="4008620" y="625393"/>
                  <a:pt x="4211192" y="618286"/>
                  <a:pt x="4413762" y="625393"/>
                </a:cubicBezTo>
                <a:cubicBezTo>
                  <a:pt x="4465118" y="628946"/>
                  <a:pt x="4525033" y="625393"/>
                  <a:pt x="4567830" y="721333"/>
                </a:cubicBezTo>
                <a:cubicBezTo>
                  <a:pt x="4425175" y="724888"/>
                  <a:pt x="4305344" y="731994"/>
                  <a:pt x="4171247" y="792401"/>
                </a:cubicBezTo>
                <a:cubicBezTo>
                  <a:pt x="4239722" y="859916"/>
                  <a:pt x="4322462" y="795955"/>
                  <a:pt x="4376671" y="842148"/>
                </a:cubicBezTo>
                <a:cubicBezTo>
                  <a:pt x="4428027" y="888342"/>
                  <a:pt x="4470824" y="891896"/>
                  <a:pt x="4527887" y="813722"/>
                </a:cubicBezTo>
                <a:cubicBezTo>
                  <a:pt x="4556417" y="774634"/>
                  <a:pt x="4604920" y="778187"/>
                  <a:pt x="4633452" y="799508"/>
                </a:cubicBezTo>
                <a:cubicBezTo>
                  <a:pt x="4781813" y="913216"/>
                  <a:pt x="4778960" y="909662"/>
                  <a:pt x="4947293" y="870576"/>
                </a:cubicBezTo>
                <a:cubicBezTo>
                  <a:pt x="5055712" y="845701"/>
                  <a:pt x="5166983" y="806615"/>
                  <a:pt x="5263988" y="820828"/>
                </a:cubicBezTo>
                <a:cubicBezTo>
                  <a:pt x="5275401" y="867022"/>
                  <a:pt x="5263988" y="888342"/>
                  <a:pt x="5249723" y="895449"/>
                </a:cubicBezTo>
                <a:cubicBezTo>
                  <a:pt x="5021475" y="1005604"/>
                  <a:pt x="4975825" y="1122864"/>
                  <a:pt x="4744723" y="1197485"/>
                </a:cubicBezTo>
                <a:cubicBezTo>
                  <a:pt x="4724751" y="1268552"/>
                  <a:pt x="4807491" y="1275660"/>
                  <a:pt x="4767548" y="1346727"/>
                </a:cubicBezTo>
                <a:cubicBezTo>
                  <a:pt x="4693367" y="1407134"/>
                  <a:pt x="4610627" y="1346727"/>
                  <a:pt x="4539299" y="1421348"/>
                </a:cubicBezTo>
                <a:cubicBezTo>
                  <a:pt x="4550712" y="1471094"/>
                  <a:pt x="4610627" y="1432008"/>
                  <a:pt x="4607773" y="1485309"/>
                </a:cubicBezTo>
                <a:cubicBezTo>
                  <a:pt x="4604920" y="1517288"/>
                  <a:pt x="4593508" y="1527948"/>
                  <a:pt x="4579242" y="1535055"/>
                </a:cubicBezTo>
                <a:cubicBezTo>
                  <a:pt x="4776107" y="1538608"/>
                  <a:pt x="5383820" y="1574142"/>
                  <a:pt x="5278255" y="1609676"/>
                </a:cubicBezTo>
                <a:cubicBezTo>
                  <a:pt x="5418057" y="1698511"/>
                  <a:pt x="5623481" y="1609676"/>
                  <a:pt x="5771843" y="1630997"/>
                </a:cubicBezTo>
                <a:cubicBezTo>
                  <a:pt x="5925911" y="1652316"/>
                  <a:pt x="6171278" y="1719830"/>
                  <a:pt x="6105656" y="1748257"/>
                </a:cubicBezTo>
                <a:cubicBezTo>
                  <a:pt x="6031475" y="1780238"/>
                  <a:pt x="5766136" y="2146235"/>
                  <a:pt x="5691955" y="2167555"/>
                </a:cubicBezTo>
                <a:cubicBezTo>
                  <a:pt x="5606362" y="2188875"/>
                  <a:pt x="5589243" y="2217302"/>
                  <a:pt x="5475118" y="2348776"/>
                </a:cubicBezTo>
                <a:cubicBezTo>
                  <a:pt x="5398085" y="2437610"/>
                  <a:pt x="5709074" y="2238623"/>
                  <a:pt x="5826051" y="2291922"/>
                </a:cubicBezTo>
                <a:cubicBezTo>
                  <a:pt x="5868848" y="2309690"/>
                  <a:pt x="5552153" y="2554872"/>
                  <a:pt x="5552153" y="2597513"/>
                </a:cubicBezTo>
                <a:cubicBezTo>
                  <a:pt x="5549300" y="2640153"/>
                  <a:pt x="5577831" y="2647260"/>
                  <a:pt x="5603508" y="2647260"/>
                </a:cubicBezTo>
                <a:cubicBezTo>
                  <a:pt x="5660571" y="2647260"/>
                  <a:pt x="5640599" y="2686346"/>
                  <a:pt x="5700515" y="2679240"/>
                </a:cubicBezTo>
                <a:cubicBezTo>
                  <a:pt x="5523622" y="2800055"/>
                  <a:pt x="5418057" y="2778734"/>
                  <a:pt x="5246870" y="2888889"/>
                </a:cubicBezTo>
                <a:cubicBezTo>
                  <a:pt x="5164130" y="2942189"/>
                  <a:pt x="4921615" y="3119857"/>
                  <a:pt x="4836022" y="3169605"/>
                </a:cubicBezTo>
                <a:cubicBezTo>
                  <a:pt x="4801785" y="3187371"/>
                  <a:pt x="4758988" y="3173158"/>
                  <a:pt x="4736163" y="3233565"/>
                </a:cubicBezTo>
                <a:cubicBezTo>
                  <a:pt x="4770400" y="3279759"/>
                  <a:pt x="4816050" y="3254885"/>
                  <a:pt x="4853141" y="3233565"/>
                </a:cubicBezTo>
                <a:cubicBezTo>
                  <a:pt x="4944440" y="3176711"/>
                  <a:pt x="4935881" y="3190925"/>
                  <a:pt x="4944440" y="3226459"/>
                </a:cubicBezTo>
                <a:cubicBezTo>
                  <a:pt x="4972972" y="3350827"/>
                  <a:pt x="5044300" y="3308186"/>
                  <a:pt x="5109921" y="3283313"/>
                </a:cubicBezTo>
                <a:cubicBezTo>
                  <a:pt x="5303932" y="3208692"/>
                  <a:pt x="5500797" y="3215799"/>
                  <a:pt x="5694809" y="3141178"/>
                </a:cubicBezTo>
                <a:cubicBezTo>
                  <a:pt x="5714781" y="3134070"/>
                  <a:pt x="5612068" y="3283313"/>
                  <a:pt x="5566419" y="3301079"/>
                </a:cubicBezTo>
                <a:cubicBezTo>
                  <a:pt x="5515063" y="3322399"/>
                  <a:pt x="5452294" y="3311739"/>
                  <a:pt x="5415203" y="3397020"/>
                </a:cubicBezTo>
                <a:cubicBezTo>
                  <a:pt x="5477972" y="3414787"/>
                  <a:pt x="5552153" y="3372147"/>
                  <a:pt x="5612068" y="3432554"/>
                </a:cubicBezTo>
                <a:cubicBezTo>
                  <a:pt x="5469413" y="3528494"/>
                  <a:pt x="5329610" y="3535601"/>
                  <a:pt x="5206927" y="3599562"/>
                </a:cubicBezTo>
                <a:cubicBezTo>
                  <a:pt x="5192661" y="3706163"/>
                  <a:pt x="5272548" y="3663523"/>
                  <a:pt x="5301079" y="3723930"/>
                </a:cubicBezTo>
                <a:cubicBezTo>
                  <a:pt x="5072830" y="3844745"/>
                  <a:pt x="4564977" y="4232062"/>
                  <a:pt x="4507915" y="4306683"/>
                </a:cubicBezTo>
                <a:cubicBezTo>
                  <a:pt x="4390937" y="4463031"/>
                  <a:pt x="3900202" y="4562525"/>
                  <a:pt x="3982942" y="4587399"/>
                </a:cubicBezTo>
                <a:cubicBezTo>
                  <a:pt x="4051417" y="4608719"/>
                  <a:pt x="4119891" y="4587399"/>
                  <a:pt x="4185513" y="4541205"/>
                </a:cubicBezTo>
                <a:cubicBezTo>
                  <a:pt x="4291078" y="4466584"/>
                  <a:pt x="5010062" y="4523438"/>
                  <a:pt x="5212633" y="4455924"/>
                </a:cubicBezTo>
                <a:cubicBezTo>
                  <a:pt x="5241164" y="4445264"/>
                  <a:pt x="5283960" y="4409730"/>
                  <a:pt x="5312492" y="4473691"/>
                </a:cubicBezTo>
                <a:cubicBezTo>
                  <a:pt x="5098508" y="4704659"/>
                  <a:pt x="4833169" y="4654913"/>
                  <a:pt x="4596361" y="4818368"/>
                </a:cubicBezTo>
                <a:cubicBezTo>
                  <a:pt x="4684807" y="4917861"/>
                  <a:pt x="4776107" y="4907202"/>
                  <a:pt x="4873113" y="4885882"/>
                </a:cubicBezTo>
                <a:cubicBezTo>
                  <a:pt x="4895938" y="4878775"/>
                  <a:pt x="4930175" y="4871668"/>
                  <a:pt x="4935881" y="4914309"/>
                </a:cubicBezTo>
                <a:cubicBezTo>
                  <a:pt x="4941587" y="4967609"/>
                  <a:pt x="4898790" y="4978270"/>
                  <a:pt x="4873113" y="5003143"/>
                </a:cubicBezTo>
                <a:cubicBezTo>
                  <a:pt x="4833169" y="5038676"/>
                  <a:pt x="4773254" y="4999590"/>
                  <a:pt x="4721898" y="5095530"/>
                </a:cubicBezTo>
                <a:cubicBezTo>
                  <a:pt x="4873113" y="5067104"/>
                  <a:pt x="4998650" y="5020910"/>
                  <a:pt x="5132745" y="4949842"/>
                </a:cubicBezTo>
                <a:cubicBezTo>
                  <a:pt x="5121333" y="5006696"/>
                  <a:pt x="5081390" y="5035123"/>
                  <a:pt x="5101362" y="5081317"/>
                </a:cubicBezTo>
                <a:cubicBezTo>
                  <a:pt x="5118480" y="5116850"/>
                  <a:pt x="5164130" y="5131063"/>
                  <a:pt x="5138452" y="5198578"/>
                </a:cubicBezTo>
                <a:cubicBezTo>
                  <a:pt x="5067125" y="5273199"/>
                  <a:pt x="4967265" y="5258986"/>
                  <a:pt x="4904497" y="5362033"/>
                </a:cubicBezTo>
                <a:cubicBezTo>
                  <a:pt x="4818903" y="5507721"/>
                  <a:pt x="4684807" y="5564575"/>
                  <a:pt x="4579242" y="5674729"/>
                </a:cubicBezTo>
                <a:cubicBezTo>
                  <a:pt x="4545005" y="5713816"/>
                  <a:pt x="4313903" y="5841738"/>
                  <a:pt x="4253988" y="5884379"/>
                </a:cubicBezTo>
                <a:cubicBezTo>
                  <a:pt x="4168395" y="5944786"/>
                  <a:pt x="4071389" y="5966106"/>
                  <a:pt x="3985795" y="6069153"/>
                </a:cubicBezTo>
                <a:cubicBezTo>
                  <a:pt x="4065682" y="6086921"/>
                  <a:pt x="4134157" y="5990979"/>
                  <a:pt x="4231163" y="6030066"/>
                </a:cubicBezTo>
                <a:cubicBezTo>
                  <a:pt x="4074242" y="6133114"/>
                  <a:pt x="3931586" y="6182861"/>
                  <a:pt x="3814609" y="6317889"/>
                </a:cubicBezTo>
                <a:cubicBezTo>
                  <a:pt x="3800343" y="6335656"/>
                  <a:pt x="3771812" y="6332102"/>
                  <a:pt x="3751840" y="6339209"/>
                </a:cubicBezTo>
                <a:cubicBezTo>
                  <a:pt x="3529298" y="6406723"/>
                  <a:pt x="3309608" y="6467130"/>
                  <a:pt x="3089919" y="6563071"/>
                </a:cubicBezTo>
                <a:cubicBezTo>
                  <a:pt x="3041416" y="6584392"/>
                  <a:pt x="2955823" y="6595052"/>
                  <a:pt x="2961529" y="6662566"/>
                </a:cubicBezTo>
                <a:cubicBezTo>
                  <a:pt x="2972941" y="6765613"/>
                  <a:pt x="3055681" y="6687439"/>
                  <a:pt x="3107038" y="6673226"/>
                </a:cubicBezTo>
                <a:cubicBezTo>
                  <a:pt x="3269664" y="6634138"/>
                  <a:pt x="3432292" y="6570178"/>
                  <a:pt x="3594919" y="6591499"/>
                </a:cubicBezTo>
                <a:cubicBezTo>
                  <a:pt x="3483648" y="6637693"/>
                  <a:pt x="3372376" y="6680332"/>
                  <a:pt x="3261106" y="6726527"/>
                </a:cubicBezTo>
                <a:cubicBezTo>
                  <a:pt x="3386642" y="6705206"/>
                  <a:pt x="3495061" y="6786934"/>
                  <a:pt x="3620597" y="6740740"/>
                </a:cubicBezTo>
                <a:cubicBezTo>
                  <a:pt x="3660541" y="6726527"/>
                  <a:pt x="3700484" y="6765613"/>
                  <a:pt x="3703337" y="6826020"/>
                </a:cubicBezTo>
                <a:cubicBezTo>
                  <a:pt x="3706191" y="6847340"/>
                  <a:pt x="3700484" y="6865108"/>
                  <a:pt x="3689072" y="6879321"/>
                </a:cubicBezTo>
                <a:lnTo>
                  <a:pt x="0" y="6879321"/>
                </a:lnTo>
                <a:close/>
              </a:path>
            </a:pathLst>
          </a:custGeom>
        </p:spPr>
      </p:pic>
      <p:sp>
        <p:nvSpPr>
          <p:cNvPr id="3" name="Content Placeholder 2">
            <a:extLst>
              <a:ext uri="{FF2B5EF4-FFF2-40B4-BE49-F238E27FC236}">
                <a16:creationId xmlns:a16="http://schemas.microsoft.com/office/drawing/2014/main" id="{BFBB9C68-53AC-46DB-95FD-16549B7060D9}"/>
              </a:ext>
            </a:extLst>
          </p:cNvPr>
          <p:cNvSpPr>
            <a:spLocks noGrp="1"/>
          </p:cNvSpPr>
          <p:nvPr>
            <p:ph idx="1"/>
          </p:nvPr>
        </p:nvSpPr>
        <p:spPr>
          <a:xfrm>
            <a:off x="6532260" y="1666876"/>
            <a:ext cx="4840010" cy="4826000"/>
          </a:xfrm>
        </p:spPr>
        <p:txBody>
          <a:bodyPr>
            <a:normAutofit/>
          </a:bodyPr>
          <a:lstStyle/>
          <a:p>
            <a:pPr>
              <a:lnSpc>
                <a:spcPct val="90000"/>
              </a:lnSpc>
            </a:pPr>
            <a:r>
              <a:rPr lang="en-GB" sz="1800" dirty="0"/>
              <a:t>Looked after by Bedouin woman (foster-mother)</a:t>
            </a:r>
          </a:p>
          <a:p>
            <a:pPr>
              <a:lnSpc>
                <a:spcPct val="90000"/>
              </a:lnSpc>
            </a:pPr>
            <a:r>
              <a:rPr lang="en-GB" sz="1800" dirty="0"/>
              <a:t>Orphaned at age 6</a:t>
            </a:r>
          </a:p>
          <a:p>
            <a:pPr>
              <a:lnSpc>
                <a:spcPct val="90000"/>
              </a:lnSpc>
            </a:pPr>
            <a:r>
              <a:rPr lang="en-GB" sz="1800" dirty="0"/>
              <a:t>Goes to live with his uncle aged 8</a:t>
            </a:r>
          </a:p>
          <a:p>
            <a:pPr>
              <a:lnSpc>
                <a:spcPct val="90000"/>
              </a:lnSpc>
            </a:pPr>
            <a:r>
              <a:rPr lang="en-GB" sz="1800" dirty="0"/>
              <a:t>Many stories tell of signs of prophethood from early on</a:t>
            </a:r>
          </a:p>
          <a:p>
            <a:pPr lvl="2">
              <a:lnSpc>
                <a:spcPct val="90000"/>
              </a:lnSpc>
            </a:pPr>
            <a:r>
              <a:rPr lang="en-GB" sz="1600" dirty="0"/>
              <a:t>Bahira – Christian monk, recognises Muhammad as future prophet</a:t>
            </a:r>
          </a:p>
          <a:p>
            <a:pPr>
              <a:lnSpc>
                <a:spcPct val="90000"/>
              </a:lnSpc>
            </a:pPr>
            <a:r>
              <a:rPr lang="en-GB" sz="1800" dirty="0"/>
              <a:t>Worked for uncle as a trader</a:t>
            </a:r>
          </a:p>
          <a:p>
            <a:pPr>
              <a:lnSpc>
                <a:spcPct val="90000"/>
              </a:lnSpc>
            </a:pPr>
            <a:r>
              <a:rPr lang="en-GB" sz="1800" b="1" dirty="0">
                <a:solidFill>
                  <a:schemeClr val="tx2"/>
                </a:solidFill>
              </a:rPr>
              <a:t>Khadija</a:t>
            </a:r>
            <a:r>
              <a:rPr lang="en-GB" sz="1800" dirty="0"/>
              <a:t>, 40 y/o widow, hires Muhammad for his honesty &amp; integrity</a:t>
            </a:r>
          </a:p>
          <a:p>
            <a:pPr lvl="2">
              <a:lnSpc>
                <a:spcPct val="90000"/>
              </a:lnSpc>
            </a:pPr>
            <a:r>
              <a:rPr lang="en-GB" sz="1600" dirty="0"/>
              <a:t>Eventually proposes </a:t>
            </a:r>
            <a:r>
              <a:rPr lang="en-GB" sz="1600" b="1" dirty="0"/>
              <a:t>marriage</a:t>
            </a:r>
            <a:r>
              <a:rPr lang="en-GB" sz="1600" dirty="0"/>
              <a:t> to 25 y/o Muhammad</a:t>
            </a:r>
          </a:p>
          <a:p>
            <a:pPr lvl="2">
              <a:lnSpc>
                <a:spcPct val="90000"/>
              </a:lnSpc>
            </a:pPr>
            <a:r>
              <a:rPr lang="en-GB" sz="1600" dirty="0"/>
              <a:t>Happy marriage – 6 children</a:t>
            </a:r>
          </a:p>
        </p:txBody>
      </p:sp>
    </p:spTree>
    <p:extLst>
      <p:ext uri="{BB962C8B-B14F-4D97-AF65-F5344CB8AC3E}">
        <p14:creationId xmlns:p14="http://schemas.microsoft.com/office/powerpoint/2010/main" val="3876679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1000"/>
                                        <p:tgtEl>
                                          <p:spTgt spid="3">
                                            <p:txEl>
                                              <p:pRg st="4" end="4"/>
                                            </p:txEl>
                                          </p:spTgt>
                                        </p:tgtEl>
                                      </p:cBhvr>
                                    </p:animEffect>
                                    <p:anim calcmode="lin" valueType="num">
                                      <p:cBhvr>
                                        <p:cTn id="3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3">
                                            <p:txEl>
                                              <p:pRg st="6" end="6"/>
                                            </p:txEl>
                                          </p:spTgt>
                                        </p:tgtEl>
                                        <p:attrNameLst>
                                          <p:attrName>style.visibility</p:attrName>
                                        </p:attrNameLst>
                                      </p:cBhvr>
                                      <p:to>
                                        <p:strVal val="visible"/>
                                      </p:to>
                                    </p:set>
                                    <p:animEffect transition="in" filter="fade">
                                      <p:cBhvr>
                                        <p:cTn id="47" dur="1000"/>
                                        <p:tgtEl>
                                          <p:spTgt spid="3">
                                            <p:txEl>
                                              <p:pRg st="6" end="6"/>
                                            </p:txEl>
                                          </p:spTgt>
                                        </p:tgtEl>
                                      </p:cBhvr>
                                    </p:animEffect>
                                    <p:anim calcmode="lin" valueType="num">
                                      <p:cBhvr>
                                        <p:cTn id="48"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9" dur="1000" fill="hold"/>
                                        <p:tgtEl>
                                          <p:spTgt spid="3">
                                            <p:txEl>
                                              <p:pRg st="6" end="6"/>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3">
                                            <p:txEl>
                                              <p:pRg st="7" end="7"/>
                                            </p:txEl>
                                          </p:spTgt>
                                        </p:tgtEl>
                                        <p:attrNameLst>
                                          <p:attrName>style.visibility</p:attrName>
                                        </p:attrNameLst>
                                      </p:cBhvr>
                                      <p:to>
                                        <p:strVal val="visible"/>
                                      </p:to>
                                    </p:set>
                                    <p:animEffect transition="in" filter="fade">
                                      <p:cBhvr>
                                        <p:cTn id="52" dur="1000"/>
                                        <p:tgtEl>
                                          <p:spTgt spid="3">
                                            <p:txEl>
                                              <p:pRg st="7" end="7"/>
                                            </p:txEl>
                                          </p:spTgt>
                                        </p:tgtEl>
                                      </p:cBhvr>
                                    </p:animEffect>
                                    <p:anim calcmode="lin" valueType="num">
                                      <p:cBhvr>
                                        <p:cTn id="5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4" dur="1000" fill="hold"/>
                                        <p:tgtEl>
                                          <p:spTgt spid="3">
                                            <p:txEl>
                                              <p:pRg st="7" end="7"/>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3">
                                            <p:txEl>
                                              <p:pRg st="8" end="8"/>
                                            </p:txEl>
                                          </p:spTgt>
                                        </p:tgtEl>
                                        <p:attrNameLst>
                                          <p:attrName>style.visibility</p:attrName>
                                        </p:attrNameLst>
                                      </p:cBhvr>
                                      <p:to>
                                        <p:strVal val="visible"/>
                                      </p:to>
                                    </p:set>
                                    <p:animEffect transition="in" filter="fade">
                                      <p:cBhvr>
                                        <p:cTn id="57" dur="1000"/>
                                        <p:tgtEl>
                                          <p:spTgt spid="3">
                                            <p:txEl>
                                              <p:pRg st="8" end="8"/>
                                            </p:txEl>
                                          </p:spTgt>
                                        </p:tgtEl>
                                      </p:cBhvr>
                                    </p:animEffect>
                                    <p:anim calcmode="lin" valueType="num">
                                      <p:cBhvr>
                                        <p:cTn id="5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AEB7F98-32EC-40D3-89EE-C843302316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43F4D3-BF54-4F02-9531-E5305B8008E1}"/>
              </a:ext>
            </a:extLst>
          </p:cNvPr>
          <p:cNvSpPr>
            <a:spLocks noGrp="1"/>
          </p:cNvSpPr>
          <p:nvPr>
            <p:ph type="title"/>
          </p:nvPr>
        </p:nvSpPr>
        <p:spPr>
          <a:xfrm>
            <a:off x="540988" y="540033"/>
            <a:ext cx="3884962" cy="1331604"/>
          </a:xfrm>
        </p:spPr>
        <p:txBody>
          <a:bodyPr anchor="b">
            <a:normAutofit/>
          </a:bodyPr>
          <a:lstStyle/>
          <a:p>
            <a:pPr algn="ctr"/>
            <a:r>
              <a:rPr lang="en-GB" dirty="0"/>
              <a:t>Makkah </a:t>
            </a:r>
            <a:r>
              <a:rPr lang="en-GB"/>
              <a:t>(Mecca)</a:t>
            </a:r>
            <a:endParaRPr lang="en-GB" dirty="0"/>
          </a:p>
        </p:txBody>
      </p:sp>
      <p:cxnSp>
        <p:nvCxnSpPr>
          <p:cNvPr id="11" name="Straight Connector 10">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13469"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232EF8F-C819-4046-95A2-B89FECC70E35}"/>
              </a:ext>
            </a:extLst>
          </p:cNvPr>
          <p:cNvSpPr>
            <a:spLocks noGrp="1"/>
          </p:cNvSpPr>
          <p:nvPr>
            <p:ph idx="1"/>
          </p:nvPr>
        </p:nvSpPr>
        <p:spPr>
          <a:xfrm>
            <a:off x="540988" y="2759076"/>
            <a:ext cx="3884962" cy="3009899"/>
          </a:xfrm>
        </p:spPr>
        <p:txBody>
          <a:bodyPr>
            <a:normAutofit/>
          </a:bodyPr>
          <a:lstStyle/>
          <a:p>
            <a:r>
              <a:rPr lang="en-GB" dirty="0"/>
              <a:t>Religious city of numerous religions</a:t>
            </a:r>
          </a:p>
          <a:p>
            <a:r>
              <a:rPr lang="en-GB" dirty="0"/>
              <a:t>Ka’ba housed many idols</a:t>
            </a:r>
          </a:p>
          <a:p>
            <a:r>
              <a:rPr lang="en-GB" dirty="0"/>
              <a:t>Important pilgrimage site</a:t>
            </a:r>
          </a:p>
          <a:p>
            <a:endParaRPr lang="en-GB" dirty="0"/>
          </a:p>
        </p:txBody>
      </p:sp>
      <p:sp>
        <p:nvSpPr>
          <p:cNvPr id="13" name="Rectangle 5">
            <a:extLst>
              <a:ext uri="{FF2B5EF4-FFF2-40B4-BE49-F238E27FC236}">
                <a16:creationId xmlns:a16="http://schemas.microsoft.com/office/drawing/2014/main" id="{8722F292-BB2F-4786-ADC4-716D8F35B8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4882058" y="443198"/>
            <a:ext cx="6660000" cy="576000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Lst>
            <a:ahLst/>
            <a:cxnLst>
              <a:cxn ang="0">
                <a:pos x="connsiteX0" y="connsiteY0"/>
              </a:cxn>
              <a:cxn ang="0">
                <a:pos x="connsiteX1" y="connsiteY1"/>
              </a:cxn>
              <a:cxn ang="0">
                <a:pos x="connsiteX2" y="connsiteY2"/>
              </a:cxn>
            </a:cxnLst>
            <a:rect l="l" t="t" r="r" b="b"/>
            <a:pathLst>
              <a:path w="6660000" h="5760000">
                <a:moveTo>
                  <a:pt x="6660000" y="5760000"/>
                </a:moveTo>
                <a:lnTo>
                  <a:pt x="0" y="5760000"/>
                </a:lnTo>
                <a:lnTo>
                  <a:pt x="0" y="0"/>
                </a:lnTo>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Banu Hashim &amp; History of the Leadership in Makkah - Rizqan Kareem - Most  Excellent Sustenance">
            <a:extLst>
              <a:ext uri="{FF2B5EF4-FFF2-40B4-BE49-F238E27FC236}">
                <a16:creationId xmlns:a16="http://schemas.microsoft.com/office/drawing/2014/main" id="{B884131B-4836-402F-B9C3-B99DC652DF0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134" r="5" b="3297"/>
          <a:stretch/>
        </p:blipFill>
        <p:spPr bwMode="auto">
          <a:xfrm>
            <a:off x="4979987" y="540033"/>
            <a:ext cx="6671025" cy="577527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5">
            <a:extLst>
              <a:ext uri="{FF2B5EF4-FFF2-40B4-BE49-F238E27FC236}">
                <a16:creationId xmlns:a16="http://schemas.microsoft.com/office/drawing/2014/main" id="{1E666EE2-AC41-4D5F-8602-4A85B83B4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4882058" y="6203198"/>
            <a:ext cx="6660000" cy="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 name="connsiteX0" fmla="*/ 6660000 w 6660000"/>
              <a:gd name="connsiteY0" fmla="*/ 0 h 0"/>
              <a:gd name="connsiteX1" fmla="*/ 0 w 6660000"/>
              <a:gd name="connsiteY1" fmla="*/ 0 h 0"/>
            </a:gdLst>
            <a:ahLst/>
            <a:cxnLst>
              <a:cxn ang="0">
                <a:pos x="connsiteX0" y="connsiteY0"/>
              </a:cxn>
              <a:cxn ang="0">
                <a:pos x="connsiteX1" y="connsiteY1"/>
              </a:cxn>
            </a:cxnLst>
            <a:rect l="l" t="t" r="r" b="b"/>
            <a:pathLst>
              <a:path w="6660000">
                <a:moveTo>
                  <a:pt x="6660000" y="0"/>
                </a:moveTo>
                <a:lnTo>
                  <a:pt x="0" y="0"/>
                </a:lnTo>
              </a:path>
            </a:pathLst>
          </a:custGeom>
          <a:solidFill>
            <a:schemeClr val="tx2">
              <a:alpha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5">
            <a:extLst>
              <a:ext uri="{FF2B5EF4-FFF2-40B4-BE49-F238E27FC236}">
                <a16:creationId xmlns:a16="http://schemas.microsoft.com/office/drawing/2014/main" id="{8009D30C-C51F-4809-83DD-C2F58649B2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1542058" y="443198"/>
            <a:ext cx="0" cy="5760000"/>
          </a:xfrm>
          <a:custGeom>
            <a:avLst/>
            <a:gdLst>
              <a:gd name="connsiteX0" fmla="*/ 0 w 6660000"/>
              <a:gd name="connsiteY0" fmla="*/ 0 h 5760000"/>
              <a:gd name="connsiteX1" fmla="*/ 6660000 w 6660000"/>
              <a:gd name="connsiteY1" fmla="*/ 0 h 5760000"/>
              <a:gd name="connsiteX2" fmla="*/ 6660000 w 6660000"/>
              <a:gd name="connsiteY2" fmla="*/ 5760000 h 5760000"/>
              <a:gd name="connsiteX3" fmla="*/ 0 w 6660000"/>
              <a:gd name="connsiteY3" fmla="*/ 5760000 h 5760000"/>
              <a:gd name="connsiteX4" fmla="*/ 0 w 6660000"/>
              <a:gd name="connsiteY4" fmla="*/ 0 h 5760000"/>
              <a:gd name="connsiteX0" fmla="*/ 6660000 w 6751440"/>
              <a:gd name="connsiteY0" fmla="*/ 0 h 5760000"/>
              <a:gd name="connsiteX1" fmla="*/ 6660000 w 6751440"/>
              <a:gd name="connsiteY1" fmla="*/ 5760000 h 5760000"/>
              <a:gd name="connsiteX2" fmla="*/ 0 w 6751440"/>
              <a:gd name="connsiteY2" fmla="*/ 5760000 h 5760000"/>
              <a:gd name="connsiteX3" fmla="*/ 0 w 6751440"/>
              <a:gd name="connsiteY3" fmla="*/ 0 h 5760000"/>
              <a:gd name="connsiteX4" fmla="*/ 6751440 w 6751440"/>
              <a:gd name="connsiteY4" fmla="*/ 9144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4" fmla="*/ 5068690 w 6660000"/>
              <a:gd name="connsiteY4" fmla="*/ 224790 h 5760000"/>
              <a:gd name="connsiteX0" fmla="*/ 6660000 w 6660000"/>
              <a:gd name="connsiteY0" fmla="*/ 0 h 5760000"/>
              <a:gd name="connsiteX1" fmla="*/ 6660000 w 6660000"/>
              <a:gd name="connsiteY1" fmla="*/ 5760000 h 5760000"/>
              <a:gd name="connsiteX2" fmla="*/ 0 w 6660000"/>
              <a:gd name="connsiteY2" fmla="*/ 5760000 h 5760000"/>
              <a:gd name="connsiteX3" fmla="*/ 0 w 6660000"/>
              <a:gd name="connsiteY3" fmla="*/ 0 h 5760000"/>
              <a:gd name="connsiteX0" fmla="*/ 6660000 w 6660000"/>
              <a:gd name="connsiteY0" fmla="*/ 5760000 h 5760000"/>
              <a:gd name="connsiteX1" fmla="*/ 0 w 6660000"/>
              <a:gd name="connsiteY1" fmla="*/ 5760000 h 5760000"/>
              <a:gd name="connsiteX2" fmla="*/ 0 w 6660000"/>
              <a:gd name="connsiteY2" fmla="*/ 0 h 5760000"/>
              <a:gd name="connsiteX0" fmla="*/ 0 w 0"/>
              <a:gd name="connsiteY0" fmla="*/ 5760000 h 5760000"/>
              <a:gd name="connsiteX1" fmla="*/ 0 w 0"/>
              <a:gd name="connsiteY1" fmla="*/ 0 h 5760000"/>
            </a:gdLst>
            <a:ahLst/>
            <a:cxnLst>
              <a:cxn ang="0">
                <a:pos x="connsiteX0" y="connsiteY0"/>
              </a:cxn>
              <a:cxn ang="0">
                <a:pos x="connsiteX1" y="connsiteY1"/>
              </a:cxn>
            </a:cxnLst>
            <a:rect l="l" t="t" r="r" b="b"/>
            <a:pathLst>
              <a:path h="5760000">
                <a:moveTo>
                  <a:pt x="0" y="5760000"/>
                </a:moveTo>
                <a:lnTo>
                  <a:pt x="0" y="0"/>
                </a:lnTo>
              </a:path>
            </a:pathLst>
          </a:custGeom>
          <a:solidFill>
            <a:schemeClr val="tx2">
              <a:alpha val="8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66616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A8997-B8B4-434E-BD4B-399B1E537A4E}"/>
              </a:ext>
            </a:extLst>
          </p:cNvPr>
          <p:cNvSpPr>
            <a:spLocks noGrp="1"/>
          </p:cNvSpPr>
          <p:nvPr>
            <p:ph type="title"/>
          </p:nvPr>
        </p:nvSpPr>
        <p:spPr/>
        <p:txBody>
          <a:bodyPr/>
          <a:lstStyle/>
          <a:p>
            <a:r>
              <a:rPr lang="en-GB" dirty="0"/>
              <a:t>The Night of Power</a:t>
            </a:r>
          </a:p>
        </p:txBody>
      </p:sp>
      <p:sp>
        <p:nvSpPr>
          <p:cNvPr id="3" name="Content Placeholder 2">
            <a:extLst>
              <a:ext uri="{FF2B5EF4-FFF2-40B4-BE49-F238E27FC236}">
                <a16:creationId xmlns:a16="http://schemas.microsoft.com/office/drawing/2014/main" id="{2ADBF4F9-FE35-45C3-8445-EB56DBA58081}"/>
              </a:ext>
            </a:extLst>
          </p:cNvPr>
          <p:cNvSpPr>
            <a:spLocks noGrp="1"/>
          </p:cNvSpPr>
          <p:nvPr>
            <p:ph idx="1"/>
          </p:nvPr>
        </p:nvSpPr>
        <p:spPr/>
        <p:txBody>
          <a:bodyPr/>
          <a:lstStyle/>
          <a:p>
            <a:r>
              <a:rPr lang="en-GB" dirty="0"/>
              <a:t>Muhammad often spent time alone meditating</a:t>
            </a:r>
          </a:p>
          <a:p>
            <a:r>
              <a:rPr lang="en-GB" dirty="0"/>
              <a:t>Each year, during the month of Ramadan, he went alone to a cave called Hira outside the city</a:t>
            </a:r>
          </a:p>
          <a:p>
            <a:r>
              <a:rPr lang="en-GB" dirty="0"/>
              <a:t>When he was 40, his fifth year at the cave, he had a surprise visitor from an angel</a:t>
            </a:r>
          </a:p>
        </p:txBody>
      </p:sp>
      <p:sp>
        <p:nvSpPr>
          <p:cNvPr id="5" name="TextBox 4">
            <a:extLst>
              <a:ext uri="{FF2B5EF4-FFF2-40B4-BE49-F238E27FC236}">
                <a16:creationId xmlns:a16="http://schemas.microsoft.com/office/drawing/2014/main" id="{AC72A7F5-9D58-4005-A607-36ABC12DD032}"/>
              </a:ext>
            </a:extLst>
          </p:cNvPr>
          <p:cNvSpPr txBox="1"/>
          <p:nvPr/>
        </p:nvSpPr>
        <p:spPr>
          <a:xfrm>
            <a:off x="1200149" y="3779837"/>
            <a:ext cx="7458075"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GB" sz="1800" dirty="0">
                <a:latin typeface="Abadi" panose="020B0604020104020204" pitchFamily="34" charset="0"/>
                <a:cs typeface="Calibri Light" panose="020F0302020204030204" pitchFamily="34" charset="0"/>
              </a:rPr>
              <a:t>“</a:t>
            </a:r>
            <a:r>
              <a:rPr lang="en-GB" sz="1800" b="1" i="1" dirty="0">
                <a:latin typeface="Abadi" panose="020B0604020104020204" pitchFamily="34" charset="0"/>
                <a:cs typeface="Calibri Light" panose="020F0302020204030204" pitchFamily="34" charset="0"/>
              </a:rPr>
              <a:t>Read</a:t>
            </a:r>
            <a:r>
              <a:rPr lang="en-GB" sz="1800" dirty="0">
                <a:latin typeface="Abadi" panose="020B0604020104020204" pitchFamily="34" charset="0"/>
                <a:cs typeface="Calibri Light" panose="020F0302020204030204" pitchFamily="34" charset="0"/>
              </a:rPr>
              <a:t>!” the voice commanded.</a:t>
            </a:r>
          </a:p>
          <a:p>
            <a:r>
              <a:rPr lang="en-GB" sz="1800" dirty="0">
                <a:latin typeface="Abadi" panose="020B0604020104020204" pitchFamily="34" charset="0"/>
                <a:cs typeface="Calibri Light" panose="020F0302020204030204" pitchFamily="34" charset="0"/>
              </a:rPr>
              <a:t>What shall I read?” Muhammad gasped.</a:t>
            </a:r>
          </a:p>
          <a:p>
            <a:r>
              <a:rPr lang="en-GB" sz="1800" dirty="0">
                <a:latin typeface="Abadi" panose="020B0604020104020204" pitchFamily="34" charset="0"/>
                <a:cs typeface="Calibri Light" panose="020F0302020204030204" pitchFamily="34" charset="0"/>
              </a:rPr>
              <a:t>The invisible presence tightened its embrace. “</a:t>
            </a:r>
            <a:r>
              <a:rPr lang="en-GB" sz="1800" b="1" i="1" dirty="0">
                <a:latin typeface="Abadi" panose="020B0604020104020204" pitchFamily="34" charset="0"/>
                <a:cs typeface="Calibri Light" panose="020F0302020204030204" pitchFamily="34" charset="0"/>
              </a:rPr>
              <a:t>Read</a:t>
            </a:r>
            <a:r>
              <a:rPr lang="en-GB" sz="1800" dirty="0">
                <a:latin typeface="Abadi" panose="020B0604020104020204" pitchFamily="34" charset="0"/>
                <a:cs typeface="Calibri Light" panose="020F0302020204030204" pitchFamily="34" charset="0"/>
              </a:rPr>
              <a:t>!”</a:t>
            </a:r>
          </a:p>
          <a:p>
            <a:r>
              <a:rPr lang="en-GB" sz="1800" dirty="0">
                <a:latin typeface="Abadi" panose="020B0604020104020204" pitchFamily="34" charset="0"/>
                <a:cs typeface="Calibri Light" panose="020F0302020204030204" pitchFamily="34" charset="0"/>
              </a:rPr>
              <a:t>“What shall I read?” Muhammad asked again, his chest caving in.</a:t>
            </a:r>
          </a:p>
          <a:p>
            <a:r>
              <a:rPr lang="en-GB" sz="1800" dirty="0">
                <a:latin typeface="Abadi" panose="020B0604020104020204" pitchFamily="34" charset="0"/>
                <a:cs typeface="Calibri Light" panose="020F0302020204030204" pitchFamily="34" charset="0"/>
              </a:rPr>
              <a:t>Once more the presence tightened its grip and once more the voice repeated its command. Finally, at the moment when he thought he could bear no more, the pressure in his chest stopped, and in the silence that engulfed the cave, Muhammad </a:t>
            </a:r>
            <a:r>
              <a:rPr lang="en-GB" sz="1800" u="sng" dirty="0">
                <a:latin typeface="Abadi" panose="020B0604020104020204" pitchFamily="34" charset="0"/>
                <a:cs typeface="Calibri Light" panose="020F0302020204030204" pitchFamily="34" charset="0"/>
              </a:rPr>
              <a:t>felt</a:t>
            </a:r>
            <a:r>
              <a:rPr lang="en-GB" sz="1800" dirty="0">
                <a:latin typeface="Abadi" panose="020B0604020104020204" pitchFamily="34" charset="0"/>
                <a:cs typeface="Calibri Light" panose="020F0302020204030204" pitchFamily="34" charset="0"/>
              </a:rPr>
              <a:t> these words stamped upon his heart:</a:t>
            </a:r>
          </a:p>
        </p:txBody>
      </p:sp>
      <p:sp>
        <p:nvSpPr>
          <p:cNvPr id="6" name="TextBox 5">
            <a:extLst>
              <a:ext uri="{FF2B5EF4-FFF2-40B4-BE49-F238E27FC236}">
                <a16:creationId xmlns:a16="http://schemas.microsoft.com/office/drawing/2014/main" id="{A5DBDC25-3742-4ECF-B1E0-E3BF7A884882}"/>
              </a:ext>
            </a:extLst>
          </p:cNvPr>
          <p:cNvSpPr txBox="1"/>
          <p:nvPr/>
        </p:nvSpPr>
        <p:spPr>
          <a:xfrm>
            <a:off x="8836024" y="3811973"/>
            <a:ext cx="2390775" cy="224676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US" sz="1400" b="1" dirty="0"/>
              <a:t>Read in the name of your Lord who created,</a:t>
            </a:r>
          </a:p>
          <a:p>
            <a:r>
              <a:rPr lang="en-US" sz="1400" b="1" dirty="0"/>
              <a:t>Created man from a clot of blood.</a:t>
            </a:r>
          </a:p>
          <a:p>
            <a:r>
              <a:rPr lang="en-US" sz="1400" b="1" dirty="0"/>
              <a:t>Read, for your Lord is the Most Generous One</a:t>
            </a:r>
          </a:p>
          <a:p>
            <a:r>
              <a:rPr lang="en-US" sz="1400" b="1" dirty="0"/>
              <a:t>Who has taught by the pen;</a:t>
            </a:r>
          </a:p>
          <a:p>
            <a:r>
              <a:rPr lang="en-US" sz="1400" b="1" dirty="0"/>
              <a:t>Taught man that which it did not know. </a:t>
            </a:r>
            <a:endParaRPr lang="en-GB" sz="1400" b="1" dirty="0"/>
          </a:p>
        </p:txBody>
      </p:sp>
    </p:spTree>
    <p:extLst>
      <p:ext uri="{BB962C8B-B14F-4D97-AF65-F5344CB8AC3E}">
        <p14:creationId xmlns:p14="http://schemas.microsoft.com/office/powerpoint/2010/main" val="1015019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5DCFBD7-5612-480F-BED3-7820176A50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1B1371-916E-41EA-AC6C-5EAAB41B1035}"/>
              </a:ext>
            </a:extLst>
          </p:cNvPr>
          <p:cNvSpPr>
            <a:spLocks noGrp="1"/>
          </p:cNvSpPr>
          <p:nvPr>
            <p:ph type="title"/>
          </p:nvPr>
        </p:nvSpPr>
        <p:spPr>
          <a:xfrm>
            <a:off x="1080000" y="1666874"/>
            <a:ext cx="4457200" cy="3521075"/>
          </a:xfrm>
        </p:spPr>
        <p:txBody>
          <a:bodyPr anchor="ctr">
            <a:normAutofit/>
          </a:bodyPr>
          <a:lstStyle/>
          <a:p>
            <a:pPr algn="ctr"/>
            <a:r>
              <a:rPr lang="en-GB" dirty="0"/>
              <a:t>Revelation</a:t>
            </a:r>
            <a:endParaRPr lang="en-GB"/>
          </a:p>
        </p:txBody>
      </p:sp>
      <p:grpSp>
        <p:nvGrpSpPr>
          <p:cNvPr id="10" name="Group 9">
            <a:extLst>
              <a:ext uri="{FF2B5EF4-FFF2-40B4-BE49-F238E27FC236}">
                <a16:creationId xmlns:a16="http://schemas.microsoft.com/office/drawing/2014/main" id="{263531A3-FAAF-4F5C-AF87-91646005308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0671" y="408462"/>
            <a:ext cx="913428" cy="1032464"/>
            <a:chOff x="999771" y="932104"/>
            <a:chExt cx="913428" cy="1032464"/>
          </a:xfrm>
        </p:grpSpPr>
        <p:grpSp>
          <p:nvGrpSpPr>
            <p:cNvPr id="11" name="Group 10">
              <a:extLst>
                <a:ext uri="{FF2B5EF4-FFF2-40B4-BE49-F238E27FC236}">
                  <a16:creationId xmlns:a16="http://schemas.microsoft.com/office/drawing/2014/main" id="{F09EC0F0-36F6-475A-B313-91019F46E4B0}"/>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8100000" flipV="1">
              <a:off x="1047457" y="1290386"/>
              <a:ext cx="865742" cy="628383"/>
              <a:chOff x="558167" y="958515"/>
              <a:chExt cx="865742" cy="628383"/>
            </a:xfrm>
            <a:solidFill>
              <a:schemeClr val="accent3"/>
            </a:solidFill>
          </p:grpSpPr>
          <p:sp>
            <p:nvSpPr>
              <p:cNvPr id="18" name="Freeform: Shape 17">
                <a:extLst>
                  <a:ext uri="{FF2B5EF4-FFF2-40B4-BE49-F238E27FC236}">
                    <a16:creationId xmlns:a16="http://schemas.microsoft.com/office/drawing/2014/main" id="{3E720176-168D-4875-B380-1FFAD166CC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Freeform: Shape 18">
                <a:extLst>
                  <a:ext uri="{FF2B5EF4-FFF2-40B4-BE49-F238E27FC236}">
                    <a16:creationId xmlns:a16="http://schemas.microsoft.com/office/drawing/2014/main" id="{6C3DF9F2-65C8-4063-9164-2DBD90E2A1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12" name="Group 11">
              <a:extLst>
                <a:ext uri="{FF2B5EF4-FFF2-40B4-BE49-F238E27FC236}">
                  <a16:creationId xmlns:a16="http://schemas.microsoft.com/office/drawing/2014/main" id="{1DB23F83-9229-4C60-938A-F2CF20C27F42}"/>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0800000" flipH="1" flipV="1">
              <a:off x="999771" y="932104"/>
              <a:ext cx="864005" cy="1032464"/>
              <a:chOff x="2207971" y="2384401"/>
              <a:chExt cx="864005" cy="1032464"/>
            </a:xfrm>
          </p:grpSpPr>
          <p:sp>
            <p:nvSpPr>
              <p:cNvPr id="13" name="Freeform: Shape 12">
                <a:extLst>
                  <a:ext uri="{FF2B5EF4-FFF2-40B4-BE49-F238E27FC236}">
                    <a16:creationId xmlns:a16="http://schemas.microsoft.com/office/drawing/2014/main" id="{1ED4C557-D730-47E9-AC8A-884190A4E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Freeform: Shape 13">
                <a:extLst>
                  <a:ext uri="{FF2B5EF4-FFF2-40B4-BE49-F238E27FC236}">
                    <a16:creationId xmlns:a16="http://schemas.microsoft.com/office/drawing/2014/main" id="{8AA1D3F0-72CD-4C7B-8C03-2A50531F98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15" name="Group 14">
                <a:extLst>
                  <a:ext uri="{FF2B5EF4-FFF2-40B4-BE49-F238E27FC236}">
                    <a16:creationId xmlns:a16="http://schemas.microsoft.com/office/drawing/2014/main" id="{129409EB-5515-4925-83E4-F7C979ED0B2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16" name="Straight Connector 15">
                  <a:extLst>
                    <a:ext uri="{FF2B5EF4-FFF2-40B4-BE49-F238E27FC236}">
                      <a16:creationId xmlns:a16="http://schemas.microsoft.com/office/drawing/2014/main" id="{2E18C444-B7B2-4918-AD29-D6CD204E585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B974E9A-69BC-4453-9A9D-6036790B372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3" name="Content Placeholder 2">
            <a:extLst>
              <a:ext uri="{FF2B5EF4-FFF2-40B4-BE49-F238E27FC236}">
                <a16:creationId xmlns:a16="http://schemas.microsoft.com/office/drawing/2014/main" id="{A6539D89-7D01-4658-A046-14B41C78196A}"/>
              </a:ext>
            </a:extLst>
          </p:cNvPr>
          <p:cNvSpPr>
            <a:spLocks noGrp="1"/>
          </p:cNvSpPr>
          <p:nvPr>
            <p:ph idx="1"/>
          </p:nvPr>
        </p:nvSpPr>
        <p:spPr>
          <a:xfrm>
            <a:off x="6654800" y="1079498"/>
            <a:ext cx="4768853" cy="5334001"/>
          </a:xfrm>
        </p:spPr>
        <p:txBody>
          <a:bodyPr anchor="ctr">
            <a:normAutofit/>
          </a:bodyPr>
          <a:lstStyle/>
          <a:p>
            <a:pPr>
              <a:lnSpc>
                <a:spcPct val="115000"/>
              </a:lnSpc>
            </a:pPr>
            <a:r>
              <a:rPr lang="en-US" sz="1800" dirty="0"/>
              <a:t>This was the start of the revelations of the Qur’an</a:t>
            </a:r>
          </a:p>
          <a:p>
            <a:pPr lvl="1">
              <a:lnSpc>
                <a:spcPct val="115000"/>
              </a:lnSpc>
            </a:pPr>
            <a:r>
              <a:rPr lang="en-US" sz="1800" dirty="0"/>
              <a:t>	</a:t>
            </a:r>
            <a:r>
              <a:rPr lang="en-US" sz="1700" dirty="0"/>
              <a:t>Muhammad very scared by visit </a:t>
            </a:r>
            <a:endParaRPr lang="en-US" sz="1800" dirty="0"/>
          </a:p>
          <a:p>
            <a:pPr>
              <a:lnSpc>
                <a:spcPct val="115000"/>
              </a:lnSpc>
            </a:pPr>
            <a:r>
              <a:rPr lang="en-US" sz="1800" dirty="0"/>
              <a:t>Khadija comforts him and her Christian cousin assures him he is a prophet</a:t>
            </a:r>
          </a:p>
          <a:p>
            <a:pPr lvl="2">
              <a:lnSpc>
                <a:spcPct val="115000"/>
              </a:lnSpc>
            </a:pPr>
            <a:r>
              <a:rPr lang="en-US" sz="1700" i="1" dirty="0"/>
              <a:t>Khadija accepts his message and later devises a test to check whether Gabriel a good or demonic spirit</a:t>
            </a:r>
          </a:p>
          <a:p>
            <a:pPr>
              <a:lnSpc>
                <a:spcPct val="115000"/>
              </a:lnSpc>
            </a:pPr>
            <a:r>
              <a:rPr lang="en-GB" sz="1800" dirty="0"/>
              <a:t>Muhammad began to preach his message publicly</a:t>
            </a:r>
          </a:p>
          <a:p>
            <a:pPr>
              <a:lnSpc>
                <a:spcPct val="115000"/>
              </a:lnSpc>
            </a:pPr>
            <a:r>
              <a:rPr lang="en-GB" sz="1800" dirty="0"/>
              <a:t>Told people not to worship idols, and to change their behaviour</a:t>
            </a:r>
          </a:p>
          <a:p>
            <a:pPr>
              <a:lnSpc>
                <a:spcPct val="115000"/>
              </a:lnSpc>
            </a:pPr>
            <a:r>
              <a:rPr lang="en-GB" sz="1800" dirty="0"/>
              <a:t>Angered many of the people of Mecca (specifically the Quraysh who controlled access to the Mecca)</a:t>
            </a:r>
          </a:p>
        </p:txBody>
      </p:sp>
      <p:grpSp>
        <p:nvGrpSpPr>
          <p:cNvPr id="21" name="Group 20">
            <a:extLst>
              <a:ext uri="{FF2B5EF4-FFF2-40B4-BE49-F238E27FC236}">
                <a16:creationId xmlns:a16="http://schemas.microsoft.com/office/drawing/2014/main" id="{F73511A5-69DC-406F-AFE1-A7248A4CEA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327954" y="5402020"/>
            <a:ext cx="912571" cy="1032464"/>
            <a:chOff x="5329995" y="4868671"/>
            <a:chExt cx="912571" cy="1032464"/>
          </a:xfrm>
        </p:grpSpPr>
        <p:grpSp>
          <p:nvGrpSpPr>
            <p:cNvPr id="22" name="Group 21">
              <a:extLst>
                <a:ext uri="{FF2B5EF4-FFF2-40B4-BE49-F238E27FC236}">
                  <a16:creationId xmlns:a16="http://schemas.microsoft.com/office/drawing/2014/main" id="{8D1B5CB3-BCAF-4109-B9F9-5FC34D383C04}"/>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rot="18900000" flipV="1">
              <a:off x="5376824" y="5010722"/>
              <a:ext cx="865742" cy="628383"/>
              <a:chOff x="558167" y="958515"/>
              <a:chExt cx="865742" cy="628383"/>
            </a:xfrm>
            <a:solidFill>
              <a:schemeClr val="accent3"/>
            </a:solidFill>
          </p:grpSpPr>
          <p:sp>
            <p:nvSpPr>
              <p:cNvPr id="29" name="Freeform: Shape 28">
                <a:extLst>
                  <a:ext uri="{FF2B5EF4-FFF2-40B4-BE49-F238E27FC236}">
                    <a16:creationId xmlns:a16="http://schemas.microsoft.com/office/drawing/2014/main" id="{1A1D338F-12B9-476D-9D9C-E55E41236E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a:off x="558167" y="1122160"/>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Freeform: Shape 29">
                <a:extLst>
                  <a:ext uri="{FF2B5EF4-FFF2-40B4-BE49-F238E27FC236}">
                    <a16:creationId xmlns:a16="http://schemas.microsoft.com/office/drawing/2014/main" id="{65EF7F9B-7A42-4B15-8511-C2968A4FE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959170" y="95851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23" name="Group 22">
              <a:extLst>
                <a:ext uri="{FF2B5EF4-FFF2-40B4-BE49-F238E27FC236}">
                  <a16:creationId xmlns:a16="http://schemas.microsoft.com/office/drawing/2014/main" id="{B1952DB7-91C4-4C9C-AEC9-7DBA47F2F545}"/>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flipH="1" flipV="1">
              <a:off x="5329995" y="4868671"/>
              <a:ext cx="864005" cy="1032464"/>
              <a:chOff x="2207971" y="2384401"/>
              <a:chExt cx="864005" cy="1032464"/>
            </a:xfrm>
          </p:grpSpPr>
          <p:sp>
            <p:nvSpPr>
              <p:cNvPr id="24" name="Freeform: Shape 23">
                <a:extLst>
                  <a:ext uri="{FF2B5EF4-FFF2-40B4-BE49-F238E27FC236}">
                    <a16:creationId xmlns:a16="http://schemas.microsoft.com/office/drawing/2014/main" id="{1C2A575A-5190-4DE4-9DFE-F5974353EF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2207971" y="2856305"/>
                <a:ext cx="464739" cy="464739"/>
              </a:xfrm>
              <a:custGeom>
                <a:avLst/>
                <a:gdLst>
                  <a:gd name="connsiteX0" fmla="*/ 464132 w 464739"/>
                  <a:gd name="connsiteY0" fmla="*/ 463881 h 464739"/>
                  <a:gd name="connsiteX1" fmla="*/ 463891 w 464739"/>
                  <a:gd name="connsiteY1" fmla="*/ 463892 h 464739"/>
                  <a:gd name="connsiteX2" fmla="*/ 463880 w 464739"/>
                  <a:gd name="connsiteY2" fmla="*/ 464132 h 464739"/>
                  <a:gd name="connsiteX3" fmla="*/ 463651 w 464739"/>
                  <a:gd name="connsiteY3" fmla="*/ 463904 h 464739"/>
                  <a:gd name="connsiteX4" fmla="*/ 446142 w 464739"/>
                  <a:gd name="connsiteY4" fmla="*/ 464739 h 464739"/>
                  <a:gd name="connsiteX5" fmla="*/ 130673 w 464739"/>
                  <a:gd name="connsiteY5" fmla="*/ 334067 h 464739"/>
                  <a:gd name="connsiteX6" fmla="*/ 0 w 464739"/>
                  <a:gd name="connsiteY6" fmla="*/ 18597 h 464739"/>
                  <a:gd name="connsiteX7" fmla="*/ 836 w 464739"/>
                  <a:gd name="connsiteY7" fmla="*/ 1089 h 464739"/>
                  <a:gd name="connsiteX8" fmla="*/ 607 w 464739"/>
                  <a:gd name="connsiteY8" fmla="*/ 859 h 464739"/>
                  <a:gd name="connsiteX9" fmla="*/ 848 w 464739"/>
                  <a:gd name="connsiteY9" fmla="*/ 848 h 464739"/>
                  <a:gd name="connsiteX10" fmla="*/ 859 w 464739"/>
                  <a:gd name="connsiteY10" fmla="*/ 607 h 464739"/>
                  <a:gd name="connsiteX11" fmla="*/ 1089 w 464739"/>
                  <a:gd name="connsiteY11" fmla="*/ 836 h 464739"/>
                  <a:gd name="connsiteX12" fmla="*/ 18597 w 464739"/>
                  <a:gd name="connsiteY12" fmla="*/ 0 h 464739"/>
                  <a:gd name="connsiteX13" fmla="*/ 334067 w 464739"/>
                  <a:gd name="connsiteY13" fmla="*/ 130672 h 464739"/>
                  <a:gd name="connsiteX14" fmla="*/ 464739 w 464739"/>
                  <a:gd name="connsiteY14" fmla="*/ 446142 h 464739"/>
                  <a:gd name="connsiteX15" fmla="*/ 463903 w 464739"/>
                  <a:gd name="connsiteY15" fmla="*/ 463652 h 464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9" h="464739">
                    <a:moveTo>
                      <a:pt x="464132" y="463881"/>
                    </a:moveTo>
                    <a:lnTo>
                      <a:pt x="463891" y="463892"/>
                    </a:lnTo>
                    <a:lnTo>
                      <a:pt x="463880" y="464132"/>
                    </a:lnTo>
                    <a:lnTo>
                      <a:pt x="463651" y="463904"/>
                    </a:lnTo>
                    <a:lnTo>
                      <a:pt x="446142" y="464739"/>
                    </a:lnTo>
                    <a:cubicBezTo>
                      <a:pt x="331965" y="464739"/>
                      <a:pt x="217787" y="421182"/>
                      <a:pt x="130673" y="334067"/>
                    </a:cubicBezTo>
                    <a:cubicBezTo>
                      <a:pt x="43558" y="246953"/>
                      <a:pt x="1" y="132775"/>
                      <a:pt x="0" y="18597"/>
                    </a:cubicBezTo>
                    <a:lnTo>
                      <a:pt x="836" y="1089"/>
                    </a:lnTo>
                    <a:lnTo>
                      <a:pt x="607" y="859"/>
                    </a:lnTo>
                    <a:lnTo>
                      <a:pt x="848" y="848"/>
                    </a:lnTo>
                    <a:lnTo>
                      <a:pt x="859" y="607"/>
                    </a:lnTo>
                    <a:lnTo>
                      <a:pt x="1089" y="836"/>
                    </a:lnTo>
                    <a:lnTo>
                      <a:pt x="18597" y="0"/>
                    </a:lnTo>
                    <a:cubicBezTo>
                      <a:pt x="132775" y="0"/>
                      <a:pt x="246952" y="43557"/>
                      <a:pt x="334067" y="130672"/>
                    </a:cubicBezTo>
                    <a:cubicBezTo>
                      <a:pt x="421182" y="217787"/>
                      <a:pt x="464739" y="331964"/>
                      <a:pt x="464739" y="446142"/>
                    </a:cubicBezTo>
                    <a:lnTo>
                      <a:pt x="463903" y="463652"/>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Freeform: Shape 24">
                <a:extLst>
                  <a:ext uri="{FF2B5EF4-FFF2-40B4-BE49-F238E27FC236}">
                    <a16:creationId xmlns:a16="http://schemas.microsoft.com/office/drawing/2014/main" id="{3C7150A2-FFA7-4F7C-81C9-2FA3803FA8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607238" y="2688467"/>
                <a:ext cx="464738" cy="464738"/>
              </a:xfrm>
              <a:custGeom>
                <a:avLst/>
                <a:gdLst>
                  <a:gd name="connsiteX0" fmla="*/ 446142 w 464738"/>
                  <a:gd name="connsiteY0" fmla="*/ 464738 h 464738"/>
                  <a:gd name="connsiteX1" fmla="*/ 130673 w 464738"/>
                  <a:gd name="connsiteY1" fmla="*/ 334066 h 464738"/>
                  <a:gd name="connsiteX2" fmla="*/ 0 w 464738"/>
                  <a:gd name="connsiteY2" fmla="*/ 18596 h 464738"/>
                  <a:gd name="connsiteX3" fmla="*/ 836 w 464738"/>
                  <a:gd name="connsiteY3" fmla="*/ 1089 h 464738"/>
                  <a:gd name="connsiteX4" fmla="*/ 606 w 464738"/>
                  <a:gd name="connsiteY4" fmla="*/ 859 h 464738"/>
                  <a:gd name="connsiteX5" fmla="*/ 848 w 464738"/>
                  <a:gd name="connsiteY5" fmla="*/ 848 h 464738"/>
                  <a:gd name="connsiteX6" fmla="*/ 859 w 464738"/>
                  <a:gd name="connsiteY6" fmla="*/ 606 h 464738"/>
                  <a:gd name="connsiteX7" fmla="*/ 1089 w 464738"/>
                  <a:gd name="connsiteY7" fmla="*/ 836 h 464738"/>
                  <a:gd name="connsiteX8" fmla="*/ 18596 w 464738"/>
                  <a:gd name="connsiteY8" fmla="*/ 0 h 464738"/>
                  <a:gd name="connsiteX9" fmla="*/ 334066 w 464738"/>
                  <a:gd name="connsiteY9" fmla="*/ 130672 h 464738"/>
                  <a:gd name="connsiteX10" fmla="*/ 464738 w 464738"/>
                  <a:gd name="connsiteY10" fmla="*/ 446142 h 464738"/>
                  <a:gd name="connsiteX11" fmla="*/ 463902 w 464738"/>
                  <a:gd name="connsiteY11" fmla="*/ 463650 h 464738"/>
                  <a:gd name="connsiteX12" fmla="*/ 464132 w 464738"/>
                  <a:gd name="connsiteY12" fmla="*/ 463880 h 464738"/>
                  <a:gd name="connsiteX13" fmla="*/ 463891 w 464738"/>
                  <a:gd name="connsiteY13" fmla="*/ 463892 h 464738"/>
                  <a:gd name="connsiteX14" fmla="*/ 463879 w 464738"/>
                  <a:gd name="connsiteY14" fmla="*/ 464132 h 464738"/>
                  <a:gd name="connsiteX15" fmla="*/ 463650 w 464738"/>
                  <a:gd name="connsiteY15" fmla="*/ 463903 h 464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64738" h="464738">
                    <a:moveTo>
                      <a:pt x="446142" y="464738"/>
                    </a:moveTo>
                    <a:cubicBezTo>
                      <a:pt x="331965" y="464738"/>
                      <a:pt x="217787" y="421181"/>
                      <a:pt x="130673" y="334066"/>
                    </a:cubicBezTo>
                    <a:cubicBezTo>
                      <a:pt x="43558" y="246952"/>
                      <a:pt x="1" y="132774"/>
                      <a:pt x="0" y="18596"/>
                    </a:cubicBezTo>
                    <a:lnTo>
                      <a:pt x="836" y="1089"/>
                    </a:lnTo>
                    <a:lnTo>
                      <a:pt x="606" y="859"/>
                    </a:lnTo>
                    <a:lnTo>
                      <a:pt x="848" y="848"/>
                    </a:lnTo>
                    <a:lnTo>
                      <a:pt x="859" y="606"/>
                    </a:lnTo>
                    <a:lnTo>
                      <a:pt x="1089" y="836"/>
                    </a:lnTo>
                    <a:lnTo>
                      <a:pt x="18596" y="0"/>
                    </a:lnTo>
                    <a:cubicBezTo>
                      <a:pt x="132774" y="0"/>
                      <a:pt x="246951" y="43557"/>
                      <a:pt x="334066" y="130672"/>
                    </a:cubicBezTo>
                    <a:cubicBezTo>
                      <a:pt x="421181" y="217787"/>
                      <a:pt x="464738" y="331964"/>
                      <a:pt x="464738" y="446142"/>
                    </a:cubicBezTo>
                    <a:lnTo>
                      <a:pt x="463902" y="463650"/>
                    </a:lnTo>
                    <a:lnTo>
                      <a:pt x="464132" y="463880"/>
                    </a:lnTo>
                    <a:lnTo>
                      <a:pt x="463891" y="463892"/>
                    </a:lnTo>
                    <a:lnTo>
                      <a:pt x="463879" y="464132"/>
                    </a:lnTo>
                    <a:lnTo>
                      <a:pt x="463650" y="463903"/>
                    </a:lnTo>
                    <a:close/>
                  </a:path>
                </a:pathLst>
              </a:cu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26" name="Group 25">
                <a:extLst>
                  <a:ext uri="{FF2B5EF4-FFF2-40B4-BE49-F238E27FC236}">
                    <a16:creationId xmlns:a16="http://schemas.microsoft.com/office/drawing/2014/main" id="{A7E7BC8E-8EF0-45B0-AE3F-6A6B7316C0D9}"/>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2440769" y="2384401"/>
                <a:ext cx="313009" cy="1032464"/>
                <a:chOff x="2440769" y="2384401"/>
                <a:chExt cx="313009" cy="1032464"/>
              </a:xfrm>
            </p:grpSpPr>
            <p:cxnSp>
              <p:nvCxnSpPr>
                <p:cNvPr id="27" name="Straight Connector 26">
                  <a:extLst>
                    <a:ext uri="{FF2B5EF4-FFF2-40B4-BE49-F238E27FC236}">
                      <a16:creationId xmlns:a16="http://schemas.microsoft.com/office/drawing/2014/main" id="{B8E09A32-931A-4C38-A558-274FA30070D6}"/>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10800000" flipH="1">
                  <a:off x="2440769" y="2516865"/>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0988A58-B96D-4381-A625-6822161B21B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rot="8100000" flipH="1">
                  <a:off x="2753778" y="2384401"/>
                  <a:ext cx="0" cy="900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1560060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BCE8A-8B58-4670-BA89-401A4BF5FE68}"/>
              </a:ext>
            </a:extLst>
          </p:cNvPr>
          <p:cNvSpPr>
            <a:spLocks noGrp="1"/>
          </p:cNvSpPr>
          <p:nvPr>
            <p:ph type="title"/>
          </p:nvPr>
        </p:nvSpPr>
        <p:spPr/>
        <p:txBody>
          <a:bodyPr anchor="b">
            <a:normAutofit/>
          </a:bodyPr>
          <a:lstStyle/>
          <a:p>
            <a:pPr algn="ctr"/>
            <a:r>
              <a:rPr lang="en-GB" dirty="0"/>
              <a:t>619 onwards</a:t>
            </a:r>
          </a:p>
        </p:txBody>
      </p:sp>
      <p:sp>
        <p:nvSpPr>
          <p:cNvPr id="3" name="Content Placeholder 2">
            <a:extLst>
              <a:ext uri="{FF2B5EF4-FFF2-40B4-BE49-F238E27FC236}">
                <a16:creationId xmlns:a16="http://schemas.microsoft.com/office/drawing/2014/main" id="{26FF8865-BA91-4EBB-95FB-D84E4B2E52C2}"/>
              </a:ext>
            </a:extLst>
          </p:cNvPr>
          <p:cNvSpPr>
            <a:spLocks noGrp="1"/>
          </p:cNvSpPr>
          <p:nvPr>
            <p:ph idx="1"/>
          </p:nvPr>
        </p:nvSpPr>
        <p:spPr>
          <a:xfrm>
            <a:off x="1079500" y="2237740"/>
            <a:ext cx="10026650" cy="3978275"/>
          </a:xfrm>
        </p:spPr>
        <p:txBody>
          <a:bodyPr>
            <a:noAutofit/>
          </a:bodyPr>
          <a:lstStyle/>
          <a:p>
            <a:pPr algn="ctr">
              <a:lnSpc>
                <a:spcPct val="115000"/>
              </a:lnSpc>
            </a:pPr>
            <a:r>
              <a:rPr lang="en-GB" dirty="0"/>
              <a:t>Muhammad initially protected from abuse by his uncle </a:t>
            </a:r>
            <a:r>
              <a:rPr lang="en-GB" b="1" dirty="0"/>
              <a:t>Abu Talib</a:t>
            </a:r>
          </a:p>
          <a:p>
            <a:pPr lvl="1" algn="ctr">
              <a:lnSpc>
                <a:spcPct val="115000"/>
              </a:lnSpc>
            </a:pPr>
            <a:r>
              <a:rPr lang="en-GB" dirty="0"/>
              <a:t>He was the leader of Muhammad’s clan and very powerful</a:t>
            </a:r>
          </a:p>
          <a:p>
            <a:pPr algn="ctr">
              <a:lnSpc>
                <a:spcPct val="115000"/>
              </a:lnSpc>
            </a:pPr>
            <a:r>
              <a:rPr lang="en-GB" dirty="0"/>
              <a:t>In 619, both </a:t>
            </a:r>
            <a:r>
              <a:rPr lang="en-GB" b="1" dirty="0"/>
              <a:t>Muhammad’s wife </a:t>
            </a:r>
            <a:r>
              <a:rPr lang="en-GB" dirty="0"/>
              <a:t>&amp; </a:t>
            </a:r>
            <a:r>
              <a:rPr lang="en-GB" b="1" dirty="0"/>
              <a:t>uncle</a:t>
            </a:r>
            <a:r>
              <a:rPr lang="en-GB" dirty="0"/>
              <a:t> died</a:t>
            </a:r>
          </a:p>
          <a:p>
            <a:pPr lvl="1" algn="ctr">
              <a:lnSpc>
                <a:spcPct val="115000"/>
              </a:lnSpc>
            </a:pPr>
            <a:r>
              <a:rPr lang="en-GB" dirty="0"/>
              <a:t>After the death of Abu Talib, Muhammad lost his protection</a:t>
            </a:r>
          </a:p>
          <a:p>
            <a:pPr lvl="1" algn="ctr">
              <a:lnSpc>
                <a:spcPct val="115000"/>
              </a:lnSpc>
            </a:pPr>
            <a:r>
              <a:rPr lang="en-GB" dirty="0"/>
              <a:t>People began to openly abuse him and assault him</a:t>
            </a:r>
          </a:p>
          <a:p>
            <a:pPr algn="ctr">
              <a:lnSpc>
                <a:spcPct val="115000"/>
              </a:lnSpc>
            </a:pPr>
            <a:r>
              <a:rPr lang="en-GB" dirty="0"/>
              <a:t>Luckily, a few years later pilgrims from the nearby city of Yathrib invited Muhammad to come and live with them over 300km away</a:t>
            </a:r>
          </a:p>
          <a:p>
            <a:pPr algn="ctr">
              <a:lnSpc>
                <a:spcPct val="115000"/>
              </a:lnSpc>
            </a:pPr>
            <a:endParaRPr lang="en-GB" dirty="0"/>
          </a:p>
        </p:txBody>
      </p:sp>
    </p:spTree>
    <p:extLst>
      <p:ext uri="{BB962C8B-B14F-4D97-AF65-F5344CB8AC3E}">
        <p14:creationId xmlns:p14="http://schemas.microsoft.com/office/powerpoint/2010/main" val="439675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Effect transition="in" filter="fade">
                                      <p:cBhvr>
                                        <p:cTn id="29" dur="1000"/>
                                        <p:tgtEl>
                                          <p:spTgt spid="3">
                                            <p:txEl>
                                              <p:pRg st="4" end="4"/>
                                            </p:txEl>
                                          </p:spTgt>
                                        </p:tgtEl>
                                      </p:cBhvr>
                                    </p:animEffect>
                                    <p:anim calcmode="lin" valueType="num">
                                      <p:cBhvr>
                                        <p:cTn id="3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fade">
                                      <p:cBhvr>
                                        <p:cTn id="36" dur="1000"/>
                                        <p:tgtEl>
                                          <p:spTgt spid="3">
                                            <p:txEl>
                                              <p:pRg st="5" end="5"/>
                                            </p:txEl>
                                          </p:spTgt>
                                        </p:tgtEl>
                                      </p:cBhvr>
                                    </p:animEffect>
                                    <p:anim calcmode="lin" valueType="num">
                                      <p:cBhvr>
                                        <p:cTn id="37"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1BCE8A-8B58-4670-BA89-401A4BF5FE68}"/>
              </a:ext>
            </a:extLst>
          </p:cNvPr>
          <p:cNvSpPr>
            <a:spLocks noGrp="1"/>
          </p:cNvSpPr>
          <p:nvPr>
            <p:ph type="title"/>
          </p:nvPr>
        </p:nvSpPr>
        <p:spPr>
          <a:xfrm>
            <a:off x="4984750" y="1011237"/>
            <a:ext cx="6120000" cy="860400"/>
          </a:xfrm>
        </p:spPr>
        <p:txBody>
          <a:bodyPr anchor="b">
            <a:normAutofit/>
          </a:bodyPr>
          <a:lstStyle/>
          <a:p>
            <a:pPr algn="ctr"/>
            <a:r>
              <a:rPr lang="en-GB" dirty="0"/>
              <a:t>Hijrah</a:t>
            </a:r>
            <a:endParaRPr lang="en-GB"/>
          </a:p>
        </p:txBody>
      </p:sp>
      <p:pic>
        <p:nvPicPr>
          <p:cNvPr id="8" name="Picture 7" descr="A person walking a herd of cattle&#10;&#10;Description automatically generated with low confidence">
            <a:extLst>
              <a:ext uri="{FF2B5EF4-FFF2-40B4-BE49-F238E27FC236}">
                <a16:creationId xmlns:a16="http://schemas.microsoft.com/office/drawing/2014/main" id="{F99653E3-161E-44E5-833D-97C675E51232}"/>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21668" r="40654" b="-1"/>
          <a:stretch/>
        </p:blipFill>
        <p:spPr>
          <a:xfrm>
            <a:off x="20" y="10"/>
            <a:ext cx="3870969" cy="6857990"/>
          </a:xfrm>
          <a:prstGeom prst="rect">
            <a:avLst/>
          </a:prstGeom>
        </p:spPr>
      </p:pic>
      <p:cxnSp>
        <p:nvCxnSpPr>
          <p:cNvPr id="20" name="Straight Connector 19">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6FF8865-BA91-4EBB-95FB-D84E4B2E52C2}"/>
              </a:ext>
            </a:extLst>
          </p:cNvPr>
          <p:cNvSpPr>
            <a:spLocks noGrp="1"/>
          </p:cNvSpPr>
          <p:nvPr>
            <p:ph idx="1"/>
          </p:nvPr>
        </p:nvSpPr>
        <p:spPr>
          <a:xfrm>
            <a:off x="4541520" y="2600967"/>
            <a:ext cx="7081520" cy="3769345"/>
          </a:xfrm>
        </p:spPr>
        <p:txBody>
          <a:bodyPr>
            <a:noAutofit/>
          </a:bodyPr>
          <a:lstStyle/>
          <a:p>
            <a:pPr>
              <a:spcBef>
                <a:spcPts val="0"/>
              </a:spcBef>
            </a:pPr>
            <a:r>
              <a:rPr lang="en-GB" sz="1800" dirty="0"/>
              <a:t>Muhammad sends followers ahead of him</a:t>
            </a:r>
          </a:p>
          <a:p>
            <a:pPr>
              <a:spcBef>
                <a:spcPts val="0"/>
              </a:spcBef>
            </a:pPr>
            <a:r>
              <a:rPr lang="en-GB" sz="1800" dirty="0"/>
              <a:t>He himself is last to leave with </a:t>
            </a:r>
            <a:r>
              <a:rPr lang="en-GB" sz="1800" b="1" dirty="0"/>
              <a:t>Abu Bakr</a:t>
            </a:r>
            <a:r>
              <a:rPr lang="en-GB" sz="1800" dirty="0"/>
              <a:t> (close friend) and </a:t>
            </a:r>
            <a:r>
              <a:rPr lang="en-GB" sz="1800" b="1" dirty="0"/>
              <a:t>Ali</a:t>
            </a:r>
            <a:r>
              <a:rPr lang="en-GB" sz="1800" dirty="0"/>
              <a:t> (cousin)</a:t>
            </a:r>
          </a:p>
          <a:p>
            <a:pPr lvl="2">
              <a:spcBef>
                <a:spcPts val="0"/>
              </a:spcBef>
            </a:pPr>
            <a:r>
              <a:rPr lang="en-GB" sz="1800" i="1" dirty="0"/>
              <a:t>Ali tricks Quraysh</a:t>
            </a:r>
          </a:p>
          <a:p>
            <a:pPr>
              <a:lnSpc>
                <a:spcPct val="115000"/>
              </a:lnSpc>
            </a:pPr>
            <a:r>
              <a:rPr lang="en-GB" sz="1800" dirty="0"/>
              <a:t>This journey is known as the Hijrah</a:t>
            </a:r>
          </a:p>
          <a:p>
            <a:pPr lvl="1">
              <a:lnSpc>
                <a:spcPct val="115000"/>
              </a:lnSpc>
            </a:pPr>
            <a:r>
              <a:rPr lang="en-GB" sz="1800" dirty="0"/>
              <a:t>So important that the Muslim calendar starts from this year </a:t>
            </a:r>
            <a:r>
              <a:rPr lang="en-GB" sz="1800" i="0" dirty="0"/>
              <a:t>622 (1AH – after Hijrah)</a:t>
            </a:r>
            <a:endParaRPr lang="en-GB" sz="1800" dirty="0"/>
          </a:p>
          <a:p>
            <a:pPr lvl="1">
              <a:spcBef>
                <a:spcPts val="0"/>
              </a:spcBef>
            </a:pPr>
            <a:endParaRPr lang="en-GB" sz="1800" i="1" dirty="0"/>
          </a:p>
        </p:txBody>
      </p:sp>
    </p:spTree>
    <p:extLst>
      <p:ext uri="{BB962C8B-B14F-4D97-AF65-F5344CB8AC3E}">
        <p14:creationId xmlns:p14="http://schemas.microsoft.com/office/powerpoint/2010/main" val="672866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26D7D0-B27D-4FD8-B90A-F8A2F9914ABA}"/>
              </a:ext>
            </a:extLst>
          </p:cNvPr>
          <p:cNvSpPr>
            <a:spLocks noGrp="1"/>
          </p:cNvSpPr>
          <p:nvPr>
            <p:ph type="title"/>
          </p:nvPr>
        </p:nvSpPr>
        <p:spPr>
          <a:xfrm>
            <a:off x="1080000" y="862151"/>
            <a:ext cx="6120000" cy="1009486"/>
          </a:xfrm>
        </p:spPr>
        <p:txBody>
          <a:bodyPr anchor="b">
            <a:normAutofit/>
          </a:bodyPr>
          <a:lstStyle/>
          <a:p>
            <a:pPr algn="ctr"/>
            <a:r>
              <a:rPr lang="en-GB" dirty="0"/>
              <a:t>Madinah (Medina)</a:t>
            </a:r>
            <a:endParaRPr lang="en-GB"/>
          </a:p>
        </p:txBody>
      </p:sp>
      <p:cxnSp>
        <p:nvCxnSpPr>
          <p:cNvPr id="13" name="Straight Connector 12">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87000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DD6CB4A-0777-45A6-906D-3931DB26C694}"/>
              </a:ext>
            </a:extLst>
          </p:cNvPr>
          <p:cNvSpPr>
            <a:spLocks noGrp="1"/>
          </p:cNvSpPr>
          <p:nvPr>
            <p:ph idx="1"/>
          </p:nvPr>
        </p:nvSpPr>
        <p:spPr>
          <a:xfrm>
            <a:off x="1080000" y="2641606"/>
            <a:ext cx="6631440" cy="3688072"/>
          </a:xfrm>
        </p:spPr>
        <p:txBody>
          <a:bodyPr>
            <a:normAutofit fontScale="92500"/>
          </a:bodyPr>
          <a:lstStyle/>
          <a:p>
            <a:pPr>
              <a:lnSpc>
                <a:spcPct val="115000"/>
              </a:lnSpc>
            </a:pPr>
            <a:r>
              <a:rPr lang="en-GB" sz="1800" dirty="0"/>
              <a:t>In Yathrib, Muhammad started the first Muslim community</a:t>
            </a:r>
          </a:p>
          <a:p>
            <a:pPr lvl="1">
              <a:lnSpc>
                <a:spcPct val="115000"/>
              </a:lnSpc>
            </a:pPr>
            <a:r>
              <a:rPr lang="en-GB" sz="1800" dirty="0"/>
              <a:t>The city was later renamed </a:t>
            </a:r>
            <a:r>
              <a:rPr lang="en-GB" sz="1800" b="1" dirty="0"/>
              <a:t>‘Madinah-al-Nabi’</a:t>
            </a:r>
            <a:r>
              <a:rPr lang="en-GB" sz="1800" dirty="0"/>
              <a:t> (the </a:t>
            </a:r>
            <a:r>
              <a:rPr lang="en-GB" sz="1800" dirty="0">
                <a:solidFill>
                  <a:schemeClr val="accent3">
                    <a:alpha val="70000"/>
                  </a:schemeClr>
                </a:solidFill>
              </a:rPr>
              <a:t>City of the Prophet</a:t>
            </a:r>
            <a:r>
              <a:rPr lang="en-GB" sz="1800" dirty="0"/>
              <a:t>)</a:t>
            </a:r>
          </a:p>
          <a:p>
            <a:pPr>
              <a:lnSpc>
                <a:spcPct val="115000"/>
              </a:lnSpc>
            </a:pPr>
            <a:r>
              <a:rPr lang="en-GB" sz="1800" dirty="0"/>
              <a:t>The first </a:t>
            </a:r>
            <a:r>
              <a:rPr lang="en-GB" sz="1800" b="1" dirty="0"/>
              <a:t>mosque</a:t>
            </a:r>
            <a:r>
              <a:rPr lang="en-GB" sz="1800" dirty="0"/>
              <a:t> was built there and Muhammad’s house was next door</a:t>
            </a:r>
          </a:p>
          <a:p>
            <a:pPr>
              <a:lnSpc>
                <a:spcPct val="115000"/>
              </a:lnSpc>
            </a:pPr>
            <a:r>
              <a:rPr lang="en-GB" sz="1800" dirty="0"/>
              <a:t>Muhammad taught that everyone was equal in the eyes of God</a:t>
            </a:r>
          </a:p>
          <a:p>
            <a:pPr lvl="1">
              <a:lnSpc>
                <a:spcPct val="115000"/>
              </a:lnSpc>
            </a:pPr>
            <a:r>
              <a:rPr lang="en-GB" sz="1800" dirty="0"/>
              <a:t>He mended his own clothes, and did his own shopping</a:t>
            </a:r>
          </a:p>
          <a:p>
            <a:pPr>
              <a:lnSpc>
                <a:spcPct val="115000"/>
              </a:lnSpc>
            </a:pPr>
            <a:r>
              <a:rPr lang="en-GB" sz="1800" dirty="0"/>
              <a:t>Muhammad became Madinah’s spiritual and political leader</a:t>
            </a:r>
          </a:p>
          <a:p>
            <a:pPr>
              <a:lnSpc>
                <a:spcPct val="115000"/>
              </a:lnSpc>
            </a:pPr>
            <a:r>
              <a:rPr lang="en-GB" sz="1800" dirty="0"/>
              <a:t>Over the next few years, Makkah and Madinah would engage in a series of </a:t>
            </a:r>
            <a:r>
              <a:rPr lang="en-GB" sz="1800" b="1" dirty="0"/>
              <a:t>battles</a:t>
            </a:r>
            <a:r>
              <a:rPr lang="en-GB" sz="1800" dirty="0"/>
              <a:t> as those from Makkah still hated Muhammad</a:t>
            </a:r>
          </a:p>
        </p:txBody>
      </p:sp>
      <p:pic>
        <p:nvPicPr>
          <p:cNvPr id="5" name="Picture 4" descr="Map&#10;&#10;Description automatically generated">
            <a:extLst>
              <a:ext uri="{FF2B5EF4-FFF2-40B4-BE49-F238E27FC236}">
                <a16:creationId xmlns:a16="http://schemas.microsoft.com/office/drawing/2014/main" id="{217BA305-D589-49D0-A9DB-F5F2EA7BC18C}"/>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9739" r="24945" b="1"/>
          <a:stretch/>
        </p:blipFill>
        <p:spPr>
          <a:xfrm>
            <a:off x="8321011" y="10"/>
            <a:ext cx="3870989" cy="6857990"/>
          </a:xfrm>
          <a:prstGeom prst="rect">
            <a:avLst/>
          </a:prstGeom>
        </p:spPr>
      </p:pic>
    </p:spTree>
    <p:extLst>
      <p:ext uri="{BB962C8B-B14F-4D97-AF65-F5344CB8AC3E}">
        <p14:creationId xmlns:p14="http://schemas.microsoft.com/office/powerpoint/2010/main" val="768875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3">
                                            <p:txEl>
                                              <p:pRg st="5" end="5"/>
                                            </p:txEl>
                                          </p:spTgt>
                                        </p:tgtEl>
                                        <p:attrNameLst>
                                          <p:attrName>style.visibility</p:attrName>
                                        </p:attrNameLst>
                                      </p:cBhvr>
                                      <p:to>
                                        <p:strVal val="visible"/>
                                      </p:to>
                                    </p:set>
                                    <p:animEffect transition="in" filter="fade">
                                      <p:cBhvr>
                                        <p:cTn id="38" dur="1000"/>
                                        <p:tgtEl>
                                          <p:spTgt spid="3">
                                            <p:txEl>
                                              <p:pRg st="5" end="5"/>
                                            </p:txEl>
                                          </p:spTgt>
                                        </p:tgtEl>
                                      </p:cBhvr>
                                    </p:animEffect>
                                    <p:anim calcmode="lin" valueType="num">
                                      <p:cBhvr>
                                        <p:cTn id="3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4EC88F-D029-476E-A272-C5A83CA3425B}"/>
              </a:ext>
            </a:extLst>
          </p:cNvPr>
          <p:cNvSpPr>
            <a:spLocks noGrp="1"/>
          </p:cNvSpPr>
          <p:nvPr>
            <p:ph type="title"/>
          </p:nvPr>
        </p:nvSpPr>
        <p:spPr>
          <a:xfrm>
            <a:off x="4984750" y="1011237"/>
            <a:ext cx="6120000" cy="860400"/>
          </a:xfrm>
        </p:spPr>
        <p:txBody>
          <a:bodyPr anchor="b">
            <a:normAutofit/>
          </a:bodyPr>
          <a:lstStyle/>
          <a:p>
            <a:pPr algn="ctr"/>
            <a:r>
              <a:rPr lang="en-GB" dirty="0"/>
              <a:t>Muhammad’s last years</a:t>
            </a:r>
            <a:endParaRPr lang="en-GB"/>
          </a:p>
        </p:txBody>
      </p:sp>
      <p:pic>
        <p:nvPicPr>
          <p:cNvPr id="1026" name="Picture 2" descr="Did the city of Mecca exist before the 4th century CE? - Quora">
            <a:extLst>
              <a:ext uri="{FF2B5EF4-FFF2-40B4-BE49-F238E27FC236}">
                <a16:creationId xmlns:a16="http://schemas.microsoft.com/office/drawing/2014/main" id="{38BE007E-1F8D-BADF-62B2-F5E178B68D5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0066" r="42399"/>
          <a:stretch/>
        </p:blipFill>
        <p:spPr bwMode="auto">
          <a:xfrm>
            <a:off x="20" y="10"/>
            <a:ext cx="3870969"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1033" name="Straight Connector 1032">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08C21A6-1A5B-40AD-8C15-0980D34213DB}"/>
              </a:ext>
            </a:extLst>
          </p:cNvPr>
          <p:cNvSpPr>
            <a:spLocks noGrp="1"/>
          </p:cNvSpPr>
          <p:nvPr>
            <p:ph idx="1"/>
          </p:nvPr>
        </p:nvSpPr>
        <p:spPr>
          <a:xfrm>
            <a:off x="4157931" y="2596552"/>
            <a:ext cx="7573993" cy="3881886"/>
          </a:xfrm>
        </p:spPr>
        <p:txBody>
          <a:bodyPr>
            <a:normAutofit/>
          </a:bodyPr>
          <a:lstStyle/>
          <a:p>
            <a:pPr>
              <a:lnSpc>
                <a:spcPct val="115000"/>
              </a:lnSpc>
            </a:pPr>
            <a:r>
              <a:rPr lang="en-GB" sz="1800" dirty="0"/>
              <a:t>In </a:t>
            </a:r>
            <a:r>
              <a:rPr lang="en-GB" sz="1800" b="1" dirty="0"/>
              <a:t>630</a:t>
            </a:r>
            <a:r>
              <a:rPr lang="en-GB" sz="1800" dirty="0"/>
              <a:t>, Muhammad and his followers returned to Makkah </a:t>
            </a:r>
          </a:p>
          <a:p>
            <a:pPr>
              <a:lnSpc>
                <a:spcPct val="115000"/>
              </a:lnSpc>
            </a:pPr>
            <a:r>
              <a:rPr lang="en-GB" sz="1800" dirty="0"/>
              <a:t>Muhammad became the new leader of Makkah and set up the Ka’ba as the centre for the worship of Allah</a:t>
            </a:r>
          </a:p>
          <a:p>
            <a:pPr>
              <a:lnSpc>
                <a:spcPct val="115000"/>
              </a:lnSpc>
            </a:pPr>
            <a:r>
              <a:rPr lang="en-GB" sz="1800" dirty="0"/>
              <a:t>Continued to receive the revelation of the Qur’an until his death</a:t>
            </a:r>
          </a:p>
          <a:p>
            <a:pPr>
              <a:lnSpc>
                <a:spcPct val="115000"/>
              </a:lnSpc>
            </a:pPr>
            <a:r>
              <a:rPr lang="en-US" sz="1800" dirty="0"/>
              <a:t>In </a:t>
            </a:r>
            <a:r>
              <a:rPr lang="en-US" sz="1800" b="1" dirty="0"/>
              <a:t>632</a:t>
            </a:r>
            <a:r>
              <a:rPr lang="en-US" sz="1800" dirty="0"/>
              <a:t>, Muhammad makes </a:t>
            </a:r>
            <a:r>
              <a:rPr lang="en-US" sz="1800" b="1" dirty="0"/>
              <a:t>final pilgrimage </a:t>
            </a:r>
            <a:r>
              <a:rPr lang="en-US" sz="1800" dirty="0"/>
              <a:t>to Mecca</a:t>
            </a:r>
          </a:p>
          <a:p>
            <a:pPr>
              <a:lnSpc>
                <a:spcPct val="115000"/>
              </a:lnSpc>
            </a:pPr>
            <a:r>
              <a:rPr lang="en-US" sz="1800" dirty="0"/>
              <a:t>While in Mecca, delivered his </a:t>
            </a:r>
            <a:r>
              <a:rPr lang="en-US" sz="1800" u="sng" dirty="0"/>
              <a:t>final sermon </a:t>
            </a:r>
            <a:r>
              <a:rPr lang="en-US" sz="1800" dirty="0"/>
              <a:t>urging unity amongst Muslims</a:t>
            </a:r>
          </a:p>
          <a:p>
            <a:pPr lvl="1">
              <a:lnSpc>
                <a:spcPct val="115000"/>
              </a:lnSpc>
            </a:pPr>
            <a:r>
              <a:rPr lang="en-US" sz="1800" dirty="0"/>
              <a:t>Tells pilgrims he had left them two things: Sunni believe them to be Qur’an and his example; Shi’a believe them to be Qur’an and his family (Ali – successor)</a:t>
            </a:r>
          </a:p>
        </p:txBody>
      </p:sp>
    </p:spTree>
    <p:extLst>
      <p:ext uri="{BB962C8B-B14F-4D97-AF65-F5344CB8AC3E}">
        <p14:creationId xmlns:p14="http://schemas.microsoft.com/office/powerpoint/2010/main" val="2173322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DB66C9CD-6BF4-44CA-8078-0BB819080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4EC88F-D029-476E-A272-C5A83CA3425B}"/>
              </a:ext>
            </a:extLst>
          </p:cNvPr>
          <p:cNvSpPr>
            <a:spLocks noGrp="1"/>
          </p:cNvSpPr>
          <p:nvPr>
            <p:ph type="title"/>
          </p:nvPr>
        </p:nvSpPr>
        <p:spPr>
          <a:xfrm>
            <a:off x="4984750" y="1011237"/>
            <a:ext cx="6120000" cy="860400"/>
          </a:xfrm>
        </p:spPr>
        <p:txBody>
          <a:bodyPr anchor="b">
            <a:normAutofit/>
          </a:bodyPr>
          <a:lstStyle/>
          <a:p>
            <a:pPr algn="ctr"/>
            <a:r>
              <a:rPr lang="en-GB" dirty="0"/>
              <a:t>Muhammad’s last years</a:t>
            </a:r>
            <a:endParaRPr lang="en-GB"/>
          </a:p>
        </p:txBody>
      </p:sp>
      <p:pic>
        <p:nvPicPr>
          <p:cNvPr id="5" name="Picture 4">
            <a:extLst>
              <a:ext uri="{FF2B5EF4-FFF2-40B4-BE49-F238E27FC236}">
                <a16:creationId xmlns:a16="http://schemas.microsoft.com/office/drawing/2014/main" id="{FCAF3393-BCA5-44C9-9971-CFA52E1A9386}"/>
              </a:ext>
            </a:extLst>
          </p:cNvPr>
          <p:cNvPicPr>
            <a:picLocks noChangeAspect="1"/>
          </p:cNvPicPr>
          <p:nvPr/>
        </p:nvPicPr>
        <p:blipFill rotWithShape="1">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5439"/>
          <a:stretch/>
        </p:blipFill>
        <p:spPr>
          <a:xfrm>
            <a:off x="20" y="10"/>
            <a:ext cx="3870969" cy="6857990"/>
          </a:xfrm>
          <a:prstGeom prst="rect">
            <a:avLst/>
          </a:prstGeom>
        </p:spPr>
      </p:pic>
      <p:cxnSp>
        <p:nvCxnSpPr>
          <p:cNvPr id="13" name="Straight Connector 12">
            <a:extLst>
              <a:ext uri="{FF2B5EF4-FFF2-40B4-BE49-F238E27FC236}">
                <a16:creationId xmlns:a16="http://schemas.microsoft.com/office/drawing/2014/main" id="{77C6DF49-CBE3-4038-AC78-35DE4FD7CE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774750" y="2310207"/>
            <a:ext cx="540000" cy="0"/>
          </a:xfrm>
          <a:prstGeom prst="line">
            <a:avLst/>
          </a:prstGeom>
          <a:ln w="1016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08C21A6-1A5B-40AD-8C15-0980D34213DB}"/>
              </a:ext>
            </a:extLst>
          </p:cNvPr>
          <p:cNvSpPr>
            <a:spLocks noGrp="1"/>
          </p:cNvSpPr>
          <p:nvPr>
            <p:ph idx="1"/>
          </p:nvPr>
        </p:nvSpPr>
        <p:spPr>
          <a:xfrm>
            <a:off x="4572000" y="2759076"/>
            <a:ext cx="7000240" cy="3540119"/>
          </a:xfrm>
        </p:spPr>
        <p:txBody>
          <a:bodyPr>
            <a:normAutofit/>
          </a:bodyPr>
          <a:lstStyle/>
          <a:p>
            <a:pPr>
              <a:lnSpc>
                <a:spcPct val="115000"/>
              </a:lnSpc>
            </a:pPr>
            <a:r>
              <a:rPr lang="en-GB" sz="1800" dirty="0"/>
              <a:t>In the same year, Muhammad fell ill</a:t>
            </a:r>
          </a:p>
          <a:p>
            <a:pPr lvl="1">
              <a:lnSpc>
                <a:spcPct val="115000"/>
              </a:lnSpc>
            </a:pPr>
            <a:r>
              <a:rPr lang="en-GB" sz="1800" dirty="0"/>
              <a:t>He knew he was close to death so returned to Madinah where he died in the arms of his </a:t>
            </a:r>
            <a:r>
              <a:rPr lang="en-GB" sz="1800"/>
              <a:t>wife Aisha</a:t>
            </a:r>
            <a:endParaRPr lang="en-GB" sz="1800" dirty="0"/>
          </a:p>
          <a:p>
            <a:pPr>
              <a:lnSpc>
                <a:spcPct val="115000"/>
              </a:lnSpc>
            </a:pPr>
            <a:r>
              <a:rPr lang="en-GB" sz="1800" dirty="0"/>
              <a:t>His tomb is today in Madinah</a:t>
            </a:r>
          </a:p>
          <a:p>
            <a:r>
              <a:rPr lang="en-GB" sz="1800" dirty="0"/>
              <a:t>Islam holds that Muhammad was the last of the prophets sent by God and as such is known as the </a:t>
            </a:r>
            <a:r>
              <a:rPr lang="en-GB" sz="1800" b="1" dirty="0"/>
              <a:t>Seal of the Prophets</a:t>
            </a:r>
          </a:p>
          <a:p>
            <a:pPr lvl="2"/>
            <a:r>
              <a:rPr lang="en-US" sz="1400" i="1" dirty="0"/>
              <a:t>Muhammad is not a father of any of your men, but he is a messenger of Allah and the last of the prophets.  And Allah has the Knowledge of every thing </a:t>
            </a:r>
            <a:r>
              <a:rPr lang="en-US" sz="1400" dirty="0"/>
              <a:t>(Quran 33:40)</a:t>
            </a:r>
          </a:p>
          <a:p>
            <a:pPr>
              <a:lnSpc>
                <a:spcPct val="115000"/>
              </a:lnSpc>
            </a:pPr>
            <a:endParaRPr lang="en-GB" sz="1800" dirty="0"/>
          </a:p>
          <a:p>
            <a:pPr>
              <a:lnSpc>
                <a:spcPct val="115000"/>
              </a:lnSpc>
            </a:pPr>
            <a:endParaRPr lang="en-GB" sz="1800" dirty="0"/>
          </a:p>
        </p:txBody>
      </p:sp>
    </p:spTree>
    <p:extLst>
      <p:ext uri="{BB962C8B-B14F-4D97-AF65-F5344CB8AC3E}">
        <p14:creationId xmlns:p14="http://schemas.microsoft.com/office/powerpoint/2010/main" val="3205777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1000"/>
                                        <p:tgtEl>
                                          <p:spTgt spid="3">
                                            <p:txEl>
                                              <p:pRg st="1" end="1"/>
                                            </p:txEl>
                                          </p:spTgt>
                                        </p:tgtEl>
                                      </p:cBhvr>
                                    </p:animEffect>
                                    <p:anim calcmode="lin" valueType="num">
                                      <p:cBhvr>
                                        <p:cTn id="1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1000"/>
                                        <p:tgtEl>
                                          <p:spTgt spid="3">
                                            <p:txEl>
                                              <p:pRg st="3" end="3"/>
                                            </p:txEl>
                                          </p:spTgt>
                                        </p:tgtEl>
                                      </p:cBhvr>
                                    </p:animEffect>
                                    <p:anim calcmode="lin" valueType="num">
                                      <p:cBhvr>
                                        <p:cTn id="2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1000"/>
                                        <p:tgtEl>
                                          <p:spTgt spid="3">
                                            <p:txEl>
                                              <p:pRg st="4" end="4"/>
                                            </p:txEl>
                                          </p:spTgt>
                                        </p:tgtEl>
                                      </p:cBhvr>
                                    </p:animEffect>
                                    <p:anim calcmode="lin" valueType="num">
                                      <p:cBhvr>
                                        <p:cTn id="3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LeafVTI">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Leaf">
      <a:majorFont>
        <a:latin typeface="Rockwell Nova Light"/>
        <a:ea typeface=""/>
        <a:cs typeface=""/>
      </a:majorFont>
      <a:minorFont>
        <a:latin typeface="Avenir Next LT Pro Light"/>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eafVTI" id="{AD13D32C-3873-4EF1-A28C-5D0E64FF0913}" vid="{0D2E0FD0-9C17-4337-BD21-33917FC300A9}"/>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7AD10A9D7E08D458C104B5739232EB4" ma:contentTypeVersion="19" ma:contentTypeDescription="Create a new document." ma:contentTypeScope="" ma:versionID="f06c63eefb6ff044dab917bc80b5708a">
  <xsd:schema xmlns:xsd="http://www.w3.org/2001/XMLSchema" xmlns:xs="http://www.w3.org/2001/XMLSchema" xmlns:p="http://schemas.microsoft.com/office/2006/metadata/properties" xmlns:ns2="ca05d594-02c3-4054-906a-8879c521063a" xmlns:ns3="80f066a0-d092-4ea2-8933-e7c755ed33e6" targetNamespace="http://schemas.microsoft.com/office/2006/metadata/properties" ma:root="true" ma:fieldsID="7a1deab4937aeeeb08d1b761a859a779" ns2:_="" ns3:_="">
    <xsd:import namespace="ca05d594-02c3-4054-906a-8879c521063a"/>
    <xsd:import namespace="80f066a0-d092-4ea2-8933-e7c755ed33e6"/>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3:MediaLengthInSeconds" minOccurs="0"/>
                <xsd:element ref="ns3:MediaServiceObjectDetectorVersions" minOccurs="0"/>
                <xsd:element ref="ns3:lcf76f155ced4ddcb4097134ff3c332f" minOccurs="0"/>
                <xsd:element ref="ns2:TaxCatchAll"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05d594-02c3-4054-906a-8879c521063a"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04fb91da-2293-4aa6-b922-e06818789a25}" ma:internalName="TaxCatchAll" ma:showField="CatchAllData" ma:web="ca05d594-02c3-4054-906a-8879c521063a">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0f066a0-d092-4ea2-8933-e7c755ed33e6"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9fe1d17e-ff9e-44d0-8ebb-180fc0d954b4" ma:termSetId="09814cd3-568e-fe90-9814-8d621ff8fb84" ma:anchorId="fba54fb3-c3e1-fe81-a776-ca4b69148c4d" ma:open="true" ma:isKeyword="false">
      <xsd:complexType>
        <xsd:sequence>
          <xsd:element ref="pc:Terms" minOccurs="0" maxOccurs="1"/>
        </xsd:sequence>
      </xsd:complex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a05d594-02c3-4054-906a-8879c521063a" xsi:nil="true"/>
    <lcf76f155ced4ddcb4097134ff3c332f xmlns="80f066a0-d092-4ea2-8933-e7c755ed33e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626AC1AF-35A8-46F3-BF37-A56C7695CAFC}">
  <ds:schemaRefs>
    <ds:schemaRef ds:uri="http://schemas.microsoft.com/sharepoint/v3/contenttype/forms"/>
  </ds:schemaRefs>
</ds:datastoreItem>
</file>

<file path=customXml/itemProps2.xml><?xml version="1.0" encoding="utf-8"?>
<ds:datastoreItem xmlns:ds="http://schemas.openxmlformats.org/officeDocument/2006/customXml" ds:itemID="{CF2FC57F-36D6-4D34-8BA7-2585D15F5D45}"/>
</file>

<file path=customXml/itemProps3.xml><?xml version="1.0" encoding="utf-8"?>
<ds:datastoreItem xmlns:ds="http://schemas.openxmlformats.org/officeDocument/2006/customXml" ds:itemID="{67CA7F5E-99CE-487A-9F42-A6BF5128D13A}"/>
</file>

<file path=docProps/app.xml><?xml version="1.0" encoding="utf-8"?>
<Properties xmlns="http://schemas.openxmlformats.org/officeDocument/2006/extended-properties" xmlns:vt="http://schemas.openxmlformats.org/officeDocument/2006/docPropsVTypes">
  <TotalTime>0</TotalTime>
  <Words>860</Words>
  <Application>Microsoft Office PowerPoint</Application>
  <PresentationFormat>Widescreen</PresentationFormat>
  <Paragraphs>79</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Abadi</vt:lpstr>
      <vt:lpstr>Arial</vt:lpstr>
      <vt:lpstr>Avenir Next LT Pro Light</vt:lpstr>
      <vt:lpstr>Rockwell Nova Light</vt:lpstr>
      <vt:lpstr>Wingdings</vt:lpstr>
      <vt:lpstr>LeafVTI</vt:lpstr>
      <vt:lpstr>Life of Muhammad</vt:lpstr>
      <vt:lpstr>Key Events</vt:lpstr>
      <vt:lpstr>Muhammad early life</vt:lpstr>
      <vt:lpstr>Makkah (Mecca)</vt:lpstr>
      <vt:lpstr>The Night of Power</vt:lpstr>
      <vt:lpstr>Revelation</vt:lpstr>
      <vt:lpstr>619 onwards</vt:lpstr>
      <vt:lpstr>Hijrah</vt:lpstr>
      <vt:lpstr>Madinah (Medina)</vt:lpstr>
      <vt:lpstr>Muhammad’s last years</vt:lpstr>
      <vt:lpstr>Muhammad’s last years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Life of Muhammad</dc:title>
  <dc:creator>Jade Ramsay-Overall</dc:creator>
  <cp:lastModifiedBy>Cat Graham</cp:lastModifiedBy>
  <cp:revision>3</cp:revision>
  <dcterms:created xsi:type="dcterms:W3CDTF">2021-01-09T15:41:42Z</dcterms:created>
  <dcterms:modified xsi:type="dcterms:W3CDTF">2026-04-27T06:38:59Z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0x01010067AD10A9D7E08D458C104B5739232EB4</vt:lpwstr>
  </property>
</Properties>
</file>