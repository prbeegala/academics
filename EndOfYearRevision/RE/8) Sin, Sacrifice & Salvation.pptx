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diagrams/data1.xml" ContentType="application/vnd.openxmlformats-officedocument.drawingml.diagramData+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colors1.xml" ContentType="application/vnd.openxmlformats-officedocument.drawingml.diagramColors+xml"/>
  <Override PartName="/ppt/diagrams/drawing1.xml" ContentType="application/vnd.ms-office.drawingml.diagramDrawing+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3"/>
  </p:sldMasterIdLst>
  <p:sldIdLst>
    <p:sldId id="256" r:id="rId4"/>
    <p:sldId id="257" r:id="rId5"/>
    <p:sldId id="265" r:id="rId6"/>
    <p:sldId id="266" r:id="rId7"/>
    <p:sldId id="269" r:id="rId8"/>
    <p:sldId id="259" r:id="rId9"/>
    <p:sldId id="268" r:id="rId10"/>
    <p:sldId id="270" r:id="rId11"/>
    <p:sldId id="258" r:id="rId12"/>
    <p:sldId id="261" r:id="rId13"/>
    <p:sldId id="271" r:id="rId14"/>
    <p:sldId id="262" r:id="rId15"/>
    <p:sldId id="272" r:id="rId16"/>
    <p:sldId id="275" r:id="rId17"/>
    <p:sldId id="273" r:id="rId18"/>
    <p:sldId id="274"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1.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customXml" Target="../customXml/item3.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658F06-88BE-406D-8C05-BE870BE844C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C499A9E-07B5-45C3-A521-A84BE22B1C18}">
      <dgm:prSet/>
      <dgm:spPr/>
      <dgm:t>
        <a:bodyPr/>
        <a:lstStyle/>
        <a:p>
          <a:r>
            <a:rPr lang="en-US" dirty="0"/>
            <a:t>Many have interpreted the serpent that tempts Eve to eat the forbidden fruit to represent </a:t>
          </a:r>
          <a:r>
            <a:rPr lang="en-US" b="1" dirty="0"/>
            <a:t>Satan </a:t>
          </a:r>
          <a:r>
            <a:rPr lang="en-US" dirty="0"/>
            <a:t>(the Devil) who is seen as a force of evil</a:t>
          </a:r>
        </a:p>
      </dgm:t>
    </dgm:pt>
    <dgm:pt modelId="{6A31AA55-BED1-476B-A6EC-BC8B9152722F}" type="parTrans" cxnId="{1487B0C1-711C-4B38-8AFF-20919C4EA7F5}">
      <dgm:prSet/>
      <dgm:spPr/>
      <dgm:t>
        <a:bodyPr/>
        <a:lstStyle/>
        <a:p>
          <a:endParaRPr lang="en-US"/>
        </a:p>
      </dgm:t>
    </dgm:pt>
    <dgm:pt modelId="{50F99D1E-FAA1-4789-B14B-77F53BA99484}" type="sibTrans" cxnId="{1487B0C1-711C-4B38-8AFF-20919C4EA7F5}">
      <dgm:prSet/>
      <dgm:spPr/>
      <dgm:t>
        <a:bodyPr/>
        <a:lstStyle/>
        <a:p>
          <a:endParaRPr lang="en-US"/>
        </a:p>
      </dgm:t>
    </dgm:pt>
    <dgm:pt modelId="{AF92D1F3-DE54-40A2-84AB-6399D33764E5}">
      <dgm:prSet/>
      <dgm:spPr/>
      <dgm:t>
        <a:bodyPr/>
        <a:lstStyle/>
        <a:p>
          <a:r>
            <a:rPr lang="en-US" dirty="0"/>
            <a:t>Only God is able to deal with the barrier caused by sin which He did through the incarnation &amp; sacrificial death of Jesus</a:t>
          </a:r>
        </a:p>
      </dgm:t>
    </dgm:pt>
    <dgm:pt modelId="{E2EC2D9F-BF6B-4027-8D84-7F1ECD8D460D}" type="parTrans" cxnId="{7E8B530F-A69C-4CDF-88B5-BE85A37009F4}">
      <dgm:prSet/>
      <dgm:spPr/>
      <dgm:t>
        <a:bodyPr/>
        <a:lstStyle/>
        <a:p>
          <a:endParaRPr lang="en-US"/>
        </a:p>
      </dgm:t>
    </dgm:pt>
    <dgm:pt modelId="{604E696B-6715-4C22-9F00-344AC0DB7A96}" type="sibTrans" cxnId="{7E8B530F-A69C-4CDF-88B5-BE85A37009F4}">
      <dgm:prSet/>
      <dgm:spPr/>
      <dgm:t>
        <a:bodyPr/>
        <a:lstStyle/>
        <a:p>
          <a:endParaRPr lang="en-US"/>
        </a:p>
      </dgm:t>
    </dgm:pt>
    <dgm:pt modelId="{E6F1D5EE-CA4E-4B81-8438-DFEAE7344CF3}">
      <dgm:prSet/>
      <dgm:spPr/>
      <dgm:t>
        <a:bodyPr/>
        <a:lstStyle/>
        <a:p>
          <a:r>
            <a:rPr lang="en-US" dirty="0"/>
            <a:t>God in Christ offered </a:t>
          </a:r>
          <a:r>
            <a:rPr lang="en-US" b="1" dirty="0"/>
            <a:t>salvation</a:t>
          </a:r>
          <a:r>
            <a:rPr lang="en-US" dirty="0"/>
            <a:t> by cancelling out original sin and through the promise of eternal life</a:t>
          </a:r>
        </a:p>
      </dgm:t>
    </dgm:pt>
    <dgm:pt modelId="{6EFC6C59-6467-4CE6-92C1-C1E6D2321306}" type="parTrans" cxnId="{71E4CEBA-1822-487C-90FB-3E967F5BADFA}">
      <dgm:prSet/>
      <dgm:spPr/>
      <dgm:t>
        <a:bodyPr/>
        <a:lstStyle/>
        <a:p>
          <a:endParaRPr lang="en-US"/>
        </a:p>
      </dgm:t>
    </dgm:pt>
    <dgm:pt modelId="{31998641-DF22-439E-BE30-D0D3D4C01B90}" type="sibTrans" cxnId="{71E4CEBA-1822-487C-90FB-3E967F5BADFA}">
      <dgm:prSet/>
      <dgm:spPr/>
      <dgm:t>
        <a:bodyPr/>
        <a:lstStyle/>
        <a:p>
          <a:endParaRPr lang="en-US"/>
        </a:p>
      </dgm:t>
    </dgm:pt>
    <dgm:pt modelId="{674252CF-EB24-45B8-8C62-7D56B20934C1}" type="pres">
      <dgm:prSet presAssocID="{8B658F06-88BE-406D-8C05-BE870BE844C8}" presName="vert0" presStyleCnt="0">
        <dgm:presLayoutVars>
          <dgm:dir/>
          <dgm:animOne val="branch"/>
          <dgm:animLvl val="lvl"/>
        </dgm:presLayoutVars>
      </dgm:prSet>
      <dgm:spPr/>
    </dgm:pt>
    <dgm:pt modelId="{1D0DBC05-D52D-4902-99F2-D3AFCCFA5C49}" type="pres">
      <dgm:prSet presAssocID="{CC499A9E-07B5-45C3-A521-A84BE22B1C18}" presName="thickLine" presStyleLbl="alignNode1" presStyleIdx="0" presStyleCnt="3"/>
      <dgm:spPr/>
    </dgm:pt>
    <dgm:pt modelId="{9F5638E8-C0A5-44A7-94EA-8493058A867F}" type="pres">
      <dgm:prSet presAssocID="{CC499A9E-07B5-45C3-A521-A84BE22B1C18}" presName="horz1" presStyleCnt="0"/>
      <dgm:spPr/>
    </dgm:pt>
    <dgm:pt modelId="{9B9A4285-14BA-44E2-BE78-DA42A5B9E291}" type="pres">
      <dgm:prSet presAssocID="{CC499A9E-07B5-45C3-A521-A84BE22B1C18}" presName="tx1" presStyleLbl="revTx" presStyleIdx="0" presStyleCnt="3"/>
      <dgm:spPr/>
    </dgm:pt>
    <dgm:pt modelId="{1EF0C039-44DF-427C-A3D3-5021197B9F16}" type="pres">
      <dgm:prSet presAssocID="{CC499A9E-07B5-45C3-A521-A84BE22B1C18}" presName="vert1" presStyleCnt="0"/>
      <dgm:spPr/>
    </dgm:pt>
    <dgm:pt modelId="{B8F25122-C9F7-4E3D-8A25-64D95F44253D}" type="pres">
      <dgm:prSet presAssocID="{AF92D1F3-DE54-40A2-84AB-6399D33764E5}" presName="thickLine" presStyleLbl="alignNode1" presStyleIdx="1" presStyleCnt="3"/>
      <dgm:spPr/>
    </dgm:pt>
    <dgm:pt modelId="{F8E77C52-077E-42C1-8686-E15E04D11FB3}" type="pres">
      <dgm:prSet presAssocID="{AF92D1F3-DE54-40A2-84AB-6399D33764E5}" presName="horz1" presStyleCnt="0"/>
      <dgm:spPr/>
    </dgm:pt>
    <dgm:pt modelId="{0016935D-23BE-41E5-8252-8B5DE0B1946B}" type="pres">
      <dgm:prSet presAssocID="{AF92D1F3-DE54-40A2-84AB-6399D33764E5}" presName="tx1" presStyleLbl="revTx" presStyleIdx="1" presStyleCnt="3"/>
      <dgm:spPr/>
    </dgm:pt>
    <dgm:pt modelId="{F7AE6765-F86E-462E-80C5-490320230A8B}" type="pres">
      <dgm:prSet presAssocID="{AF92D1F3-DE54-40A2-84AB-6399D33764E5}" presName="vert1" presStyleCnt="0"/>
      <dgm:spPr/>
    </dgm:pt>
    <dgm:pt modelId="{223DB949-BD7D-45DA-A027-1ED20CD52633}" type="pres">
      <dgm:prSet presAssocID="{E6F1D5EE-CA4E-4B81-8438-DFEAE7344CF3}" presName="thickLine" presStyleLbl="alignNode1" presStyleIdx="2" presStyleCnt="3"/>
      <dgm:spPr/>
    </dgm:pt>
    <dgm:pt modelId="{7AA7F0FC-D07E-4935-95DD-E539E9E6034E}" type="pres">
      <dgm:prSet presAssocID="{E6F1D5EE-CA4E-4B81-8438-DFEAE7344CF3}" presName="horz1" presStyleCnt="0"/>
      <dgm:spPr/>
    </dgm:pt>
    <dgm:pt modelId="{C09A3D4C-2C1C-4F06-B7F9-8789055D2C04}" type="pres">
      <dgm:prSet presAssocID="{E6F1D5EE-CA4E-4B81-8438-DFEAE7344CF3}" presName="tx1" presStyleLbl="revTx" presStyleIdx="2" presStyleCnt="3"/>
      <dgm:spPr/>
    </dgm:pt>
    <dgm:pt modelId="{3A1ED27F-B172-487E-90E4-969883BDA6D9}" type="pres">
      <dgm:prSet presAssocID="{E6F1D5EE-CA4E-4B81-8438-DFEAE7344CF3}" presName="vert1" presStyleCnt="0"/>
      <dgm:spPr/>
    </dgm:pt>
  </dgm:ptLst>
  <dgm:cxnLst>
    <dgm:cxn modelId="{7E8B530F-A69C-4CDF-88B5-BE85A37009F4}" srcId="{8B658F06-88BE-406D-8C05-BE870BE844C8}" destId="{AF92D1F3-DE54-40A2-84AB-6399D33764E5}" srcOrd="1" destOrd="0" parTransId="{E2EC2D9F-BF6B-4027-8D84-7F1ECD8D460D}" sibTransId="{604E696B-6715-4C22-9F00-344AC0DB7A96}"/>
    <dgm:cxn modelId="{F7D24443-677A-4FE3-800B-84EA469AEE93}" type="presOf" srcId="{CC499A9E-07B5-45C3-A521-A84BE22B1C18}" destId="{9B9A4285-14BA-44E2-BE78-DA42A5B9E291}" srcOrd="0" destOrd="0" presId="urn:microsoft.com/office/officeart/2008/layout/LinedList"/>
    <dgm:cxn modelId="{7E4D4C97-B2AC-4014-8DAB-1915B4A131D4}" type="presOf" srcId="{AF92D1F3-DE54-40A2-84AB-6399D33764E5}" destId="{0016935D-23BE-41E5-8252-8B5DE0B1946B}" srcOrd="0" destOrd="0" presId="urn:microsoft.com/office/officeart/2008/layout/LinedList"/>
    <dgm:cxn modelId="{E49149A7-02CC-45C3-A8CE-EEBE6AFC3656}" type="presOf" srcId="{E6F1D5EE-CA4E-4B81-8438-DFEAE7344CF3}" destId="{C09A3D4C-2C1C-4F06-B7F9-8789055D2C04}" srcOrd="0" destOrd="0" presId="urn:microsoft.com/office/officeart/2008/layout/LinedList"/>
    <dgm:cxn modelId="{71E4CEBA-1822-487C-90FB-3E967F5BADFA}" srcId="{8B658F06-88BE-406D-8C05-BE870BE844C8}" destId="{E6F1D5EE-CA4E-4B81-8438-DFEAE7344CF3}" srcOrd="2" destOrd="0" parTransId="{6EFC6C59-6467-4CE6-92C1-C1E6D2321306}" sibTransId="{31998641-DF22-439E-BE30-D0D3D4C01B90}"/>
    <dgm:cxn modelId="{1487B0C1-711C-4B38-8AFF-20919C4EA7F5}" srcId="{8B658F06-88BE-406D-8C05-BE870BE844C8}" destId="{CC499A9E-07B5-45C3-A521-A84BE22B1C18}" srcOrd="0" destOrd="0" parTransId="{6A31AA55-BED1-476B-A6EC-BC8B9152722F}" sibTransId="{50F99D1E-FAA1-4789-B14B-77F53BA99484}"/>
    <dgm:cxn modelId="{0736C5E4-BD83-4C65-852A-2977371570D5}" type="presOf" srcId="{8B658F06-88BE-406D-8C05-BE870BE844C8}" destId="{674252CF-EB24-45B8-8C62-7D56B20934C1}" srcOrd="0" destOrd="0" presId="urn:microsoft.com/office/officeart/2008/layout/LinedList"/>
    <dgm:cxn modelId="{4CAE6DA2-AF4D-47EF-905E-747C62F9F662}" type="presParOf" srcId="{674252CF-EB24-45B8-8C62-7D56B20934C1}" destId="{1D0DBC05-D52D-4902-99F2-D3AFCCFA5C49}" srcOrd="0" destOrd="0" presId="urn:microsoft.com/office/officeart/2008/layout/LinedList"/>
    <dgm:cxn modelId="{8CAE8501-879B-48F8-84E0-74E63F88F4D8}" type="presParOf" srcId="{674252CF-EB24-45B8-8C62-7D56B20934C1}" destId="{9F5638E8-C0A5-44A7-94EA-8493058A867F}" srcOrd="1" destOrd="0" presId="urn:microsoft.com/office/officeart/2008/layout/LinedList"/>
    <dgm:cxn modelId="{751E50D9-BBEF-473A-B6D7-5E0825CC321A}" type="presParOf" srcId="{9F5638E8-C0A5-44A7-94EA-8493058A867F}" destId="{9B9A4285-14BA-44E2-BE78-DA42A5B9E291}" srcOrd="0" destOrd="0" presId="urn:microsoft.com/office/officeart/2008/layout/LinedList"/>
    <dgm:cxn modelId="{FA07034D-DBEE-4C23-8E7E-75732BDECEC5}" type="presParOf" srcId="{9F5638E8-C0A5-44A7-94EA-8493058A867F}" destId="{1EF0C039-44DF-427C-A3D3-5021197B9F16}" srcOrd="1" destOrd="0" presId="urn:microsoft.com/office/officeart/2008/layout/LinedList"/>
    <dgm:cxn modelId="{B621D5B0-0354-4688-92E3-CEB576E33609}" type="presParOf" srcId="{674252CF-EB24-45B8-8C62-7D56B20934C1}" destId="{B8F25122-C9F7-4E3D-8A25-64D95F44253D}" srcOrd="2" destOrd="0" presId="urn:microsoft.com/office/officeart/2008/layout/LinedList"/>
    <dgm:cxn modelId="{8D0EC13F-888C-400B-9C39-4A095EF58890}" type="presParOf" srcId="{674252CF-EB24-45B8-8C62-7D56B20934C1}" destId="{F8E77C52-077E-42C1-8686-E15E04D11FB3}" srcOrd="3" destOrd="0" presId="urn:microsoft.com/office/officeart/2008/layout/LinedList"/>
    <dgm:cxn modelId="{17CFCA32-FDA1-49B9-B00F-E38216301F35}" type="presParOf" srcId="{F8E77C52-077E-42C1-8686-E15E04D11FB3}" destId="{0016935D-23BE-41E5-8252-8B5DE0B1946B}" srcOrd="0" destOrd="0" presId="urn:microsoft.com/office/officeart/2008/layout/LinedList"/>
    <dgm:cxn modelId="{F2AC8604-3938-496A-97EC-C28BF4B4BB7E}" type="presParOf" srcId="{F8E77C52-077E-42C1-8686-E15E04D11FB3}" destId="{F7AE6765-F86E-462E-80C5-490320230A8B}" srcOrd="1" destOrd="0" presId="urn:microsoft.com/office/officeart/2008/layout/LinedList"/>
    <dgm:cxn modelId="{B764DAB4-7643-475C-AFAE-D05F81C3DC62}" type="presParOf" srcId="{674252CF-EB24-45B8-8C62-7D56B20934C1}" destId="{223DB949-BD7D-45DA-A027-1ED20CD52633}" srcOrd="4" destOrd="0" presId="urn:microsoft.com/office/officeart/2008/layout/LinedList"/>
    <dgm:cxn modelId="{911B9A97-FF2E-4F08-85E2-99395AE4C47E}" type="presParOf" srcId="{674252CF-EB24-45B8-8C62-7D56B20934C1}" destId="{7AA7F0FC-D07E-4935-95DD-E539E9E6034E}" srcOrd="5" destOrd="0" presId="urn:microsoft.com/office/officeart/2008/layout/LinedList"/>
    <dgm:cxn modelId="{AB503634-C082-4599-B1DB-4547BBEC3FEE}" type="presParOf" srcId="{7AA7F0FC-D07E-4935-95DD-E539E9E6034E}" destId="{C09A3D4C-2C1C-4F06-B7F9-8789055D2C04}" srcOrd="0" destOrd="0" presId="urn:microsoft.com/office/officeart/2008/layout/LinedList"/>
    <dgm:cxn modelId="{72508E61-5476-43A4-9855-4A0844BD81F8}" type="presParOf" srcId="{7AA7F0FC-D07E-4935-95DD-E539E9E6034E}" destId="{3A1ED27F-B172-487E-90E4-969883BDA6D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DBC05-D52D-4902-99F2-D3AFCCFA5C49}">
      <dsp:nvSpPr>
        <dsp:cNvPr id="0" name=""/>
        <dsp:cNvSpPr/>
      </dsp:nvSpPr>
      <dsp:spPr>
        <a:xfrm>
          <a:off x="0" y="2627"/>
          <a:ext cx="637236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9A4285-14BA-44E2-BE78-DA42A5B9E291}">
      <dsp:nvSpPr>
        <dsp:cNvPr id="0" name=""/>
        <dsp:cNvSpPr/>
      </dsp:nvSpPr>
      <dsp:spPr>
        <a:xfrm>
          <a:off x="0" y="2627"/>
          <a:ext cx="6372366" cy="1791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Many have interpreted the serpent that tempts Eve to eat the forbidden fruit to represent </a:t>
          </a:r>
          <a:r>
            <a:rPr lang="en-US" sz="2800" b="1" kern="1200" dirty="0"/>
            <a:t>Satan </a:t>
          </a:r>
          <a:r>
            <a:rPr lang="en-US" sz="2800" kern="1200" dirty="0"/>
            <a:t>(the Devil) who is seen as a force of evil</a:t>
          </a:r>
        </a:p>
      </dsp:txBody>
      <dsp:txXfrm>
        <a:off x="0" y="2627"/>
        <a:ext cx="6372366" cy="1791631"/>
      </dsp:txXfrm>
    </dsp:sp>
    <dsp:sp modelId="{B8F25122-C9F7-4E3D-8A25-64D95F44253D}">
      <dsp:nvSpPr>
        <dsp:cNvPr id="0" name=""/>
        <dsp:cNvSpPr/>
      </dsp:nvSpPr>
      <dsp:spPr>
        <a:xfrm>
          <a:off x="0" y="1794258"/>
          <a:ext cx="6372366" cy="0"/>
        </a:xfrm>
        <a:prstGeom prst="line">
          <a:avLst/>
        </a:prstGeom>
        <a:solidFill>
          <a:schemeClr val="accent2">
            <a:hueOff val="758429"/>
            <a:satOff val="-9666"/>
            <a:lumOff val="-2451"/>
            <a:alphaOff val="0"/>
          </a:schemeClr>
        </a:solidFill>
        <a:ln w="12700" cap="flat" cmpd="sng" algn="ctr">
          <a:solidFill>
            <a:schemeClr val="accent2">
              <a:hueOff val="758429"/>
              <a:satOff val="-9666"/>
              <a:lumOff val="-2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16935D-23BE-41E5-8252-8B5DE0B1946B}">
      <dsp:nvSpPr>
        <dsp:cNvPr id="0" name=""/>
        <dsp:cNvSpPr/>
      </dsp:nvSpPr>
      <dsp:spPr>
        <a:xfrm>
          <a:off x="0" y="1794258"/>
          <a:ext cx="6372366" cy="1791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Only God is able to deal with the barrier caused by sin which He did through the incarnation &amp; sacrificial death of Jesus</a:t>
          </a:r>
        </a:p>
      </dsp:txBody>
      <dsp:txXfrm>
        <a:off x="0" y="1794258"/>
        <a:ext cx="6372366" cy="1791631"/>
      </dsp:txXfrm>
    </dsp:sp>
    <dsp:sp modelId="{223DB949-BD7D-45DA-A027-1ED20CD52633}">
      <dsp:nvSpPr>
        <dsp:cNvPr id="0" name=""/>
        <dsp:cNvSpPr/>
      </dsp:nvSpPr>
      <dsp:spPr>
        <a:xfrm>
          <a:off x="0" y="3585890"/>
          <a:ext cx="6372366" cy="0"/>
        </a:xfrm>
        <a:prstGeom prst="line">
          <a:avLst/>
        </a:prstGeom>
        <a:solidFill>
          <a:schemeClr val="accent2">
            <a:hueOff val="1516857"/>
            <a:satOff val="-19332"/>
            <a:lumOff val="-4902"/>
            <a:alphaOff val="0"/>
          </a:schemeClr>
        </a:solidFill>
        <a:ln w="12700" cap="flat" cmpd="sng" algn="ctr">
          <a:solidFill>
            <a:schemeClr val="accent2">
              <a:hueOff val="1516857"/>
              <a:satOff val="-19332"/>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9A3D4C-2C1C-4F06-B7F9-8789055D2C04}">
      <dsp:nvSpPr>
        <dsp:cNvPr id="0" name=""/>
        <dsp:cNvSpPr/>
      </dsp:nvSpPr>
      <dsp:spPr>
        <a:xfrm>
          <a:off x="0" y="3585890"/>
          <a:ext cx="6372366" cy="1791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God in Christ offered </a:t>
          </a:r>
          <a:r>
            <a:rPr lang="en-US" sz="2800" b="1" kern="1200" dirty="0"/>
            <a:t>salvation</a:t>
          </a:r>
          <a:r>
            <a:rPr lang="en-US" sz="2800" kern="1200" dirty="0"/>
            <a:t> by cancelling out original sin and through the promise of eternal life</a:t>
          </a:r>
        </a:p>
      </dsp:txBody>
      <dsp:txXfrm>
        <a:off x="0" y="3585890"/>
        <a:ext cx="6372366" cy="179163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2"/>
            <a:ext cx="8816632" cy="357155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0"/>
            <a:ext cx="8816632" cy="944879"/>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16" name="Straight Connector 15">
            <a:extLst>
              <a:ext uri="{FF2B5EF4-FFF2-40B4-BE49-F238E27FC236}">
                <a16:creationId xmlns:a16="http://schemas.microsoft.com/office/drawing/2014/main" id="{24A7CC8F-56A6-423D-B67A-8BA89D3EC91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56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573109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01F-198D-4AAD-B4FB-AD3B44981ADD}"/>
              </a:ext>
            </a:extLst>
          </p:cNvPr>
          <p:cNvSpPr>
            <a:spLocks noGrp="1"/>
          </p:cNvSpPr>
          <p:nvPr>
            <p:ph type="title"/>
          </p:nvPr>
        </p:nvSpPr>
        <p:spPr>
          <a:xfrm>
            <a:off x="838200" y="838200"/>
            <a:ext cx="9438640" cy="4114800"/>
          </a:xfrm>
        </p:spPr>
        <p:txBody>
          <a:bodyPr anchor="t">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BCC2B-311B-4FB6-B3A5-26F68055AE38}"/>
              </a:ext>
            </a:extLst>
          </p:cNvPr>
          <p:cNvSpPr>
            <a:spLocks noGrp="1"/>
          </p:cNvSpPr>
          <p:nvPr>
            <p:ph type="body" idx="1"/>
          </p:nvPr>
        </p:nvSpPr>
        <p:spPr>
          <a:xfrm>
            <a:off x="838200" y="5217160"/>
            <a:ext cx="9438640" cy="802640"/>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9CB73D-2D6B-4FA6-89A4-DCC89F80E0F1}"/>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5" name="Footer Placeholder 4">
            <a:extLst>
              <a:ext uri="{FF2B5EF4-FFF2-40B4-BE49-F238E27FC236}">
                <a16:creationId xmlns:a16="http://schemas.microsoft.com/office/drawing/2014/main" id="{B6A0C188-FF43-44C1-A005-679168D5F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D1188-DA27-47B2-8176-31193EEC4C28}"/>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504910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5A25-7E99-42A8-8D6D-648EFE2038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501DC-62B7-42BD-A941-D34E92719C32}"/>
              </a:ext>
            </a:extLst>
          </p:cNvPr>
          <p:cNvSpPr>
            <a:spLocks noGrp="1"/>
          </p:cNvSpPr>
          <p:nvPr>
            <p:ph sz="half" idx="1"/>
          </p:nvPr>
        </p:nvSpPr>
        <p:spPr>
          <a:xfrm>
            <a:off x="838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765C5C1-4FD4-4958-99A0-BDADECA336BD}"/>
              </a:ext>
            </a:extLst>
          </p:cNvPr>
          <p:cNvSpPr>
            <a:spLocks noGrp="1"/>
          </p:cNvSpPr>
          <p:nvPr>
            <p:ph sz="half" idx="2"/>
          </p:nvPr>
        </p:nvSpPr>
        <p:spPr>
          <a:xfrm>
            <a:off x="6172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D1B234-5D54-44E5-B41D-B205AAF50305}"/>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6" name="Footer Placeholder 5">
            <a:extLst>
              <a:ext uri="{FF2B5EF4-FFF2-40B4-BE49-F238E27FC236}">
                <a16:creationId xmlns:a16="http://schemas.microsoft.com/office/drawing/2014/main" id="{0E67BCDB-6B96-45D6-B5E9-823A96EBD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39C5F-F16F-4AFD-98D1-FA3BB96AF2C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980137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C1F-0040-4BBF-81A6-FD2E30637B0C}"/>
              </a:ext>
            </a:extLst>
          </p:cNvPr>
          <p:cNvSpPr>
            <a:spLocks noGrp="1"/>
          </p:cNvSpPr>
          <p:nvPr>
            <p:ph type="title"/>
          </p:nvPr>
        </p:nvSpPr>
        <p:spPr>
          <a:xfrm>
            <a:off x="839788" y="379780"/>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2894A7-1DA1-44C1-8ED0-716279430690}"/>
              </a:ext>
            </a:extLst>
          </p:cNvPr>
          <p:cNvSpPr>
            <a:spLocks noGrp="1"/>
          </p:cNvSpPr>
          <p:nvPr>
            <p:ph type="body" idx="1"/>
          </p:nvPr>
        </p:nvSpPr>
        <p:spPr>
          <a:xfrm>
            <a:off x="839789" y="1824035"/>
            <a:ext cx="4997132"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9AB945-31E2-4B60-9076-CBB8F8594949}"/>
              </a:ext>
            </a:extLst>
          </p:cNvPr>
          <p:cNvSpPr>
            <a:spLocks noGrp="1"/>
          </p:cNvSpPr>
          <p:nvPr>
            <p:ph sz="half" idx="2"/>
          </p:nvPr>
        </p:nvSpPr>
        <p:spPr>
          <a:xfrm>
            <a:off x="839789" y="2505075"/>
            <a:ext cx="4997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71B3EA-2E84-4B8B-A104-81BD577424AD}"/>
              </a:ext>
            </a:extLst>
          </p:cNvPr>
          <p:cNvSpPr>
            <a:spLocks noGrp="1"/>
          </p:cNvSpPr>
          <p:nvPr>
            <p:ph type="body" sz="quarter" idx="3"/>
          </p:nvPr>
        </p:nvSpPr>
        <p:spPr>
          <a:xfrm>
            <a:off x="6355080" y="1824035"/>
            <a:ext cx="5000308"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511AB8-302C-476E-B80A-AA739911E304}"/>
              </a:ext>
            </a:extLst>
          </p:cNvPr>
          <p:cNvSpPr>
            <a:spLocks noGrp="1"/>
          </p:cNvSpPr>
          <p:nvPr>
            <p:ph sz="quarter" idx="4"/>
          </p:nvPr>
        </p:nvSpPr>
        <p:spPr>
          <a:xfrm>
            <a:off x="6355080" y="2505075"/>
            <a:ext cx="50003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B47C29-FE34-4E6E-9921-78C54673AAD9}"/>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8" name="Footer Placeholder 7">
            <a:extLst>
              <a:ext uri="{FF2B5EF4-FFF2-40B4-BE49-F238E27FC236}">
                <a16:creationId xmlns:a16="http://schemas.microsoft.com/office/drawing/2014/main" id="{3CF6B420-A9CE-4BB6-A653-5C3ABC7D6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1DF8FE-1179-4798-B16D-AF1DFA266D4D}"/>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805602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6F1A-0A68-4048-808F-CD7A9F3B0846}"/>
              </a:ext>
            </a:extLst>
          </p:cNvPr>
          <p:cNvSpPr>
            <a:spLocks noGrp="1"/>
          </p:cNvSpPr>
          <p:nvPr>
            <p:ph type="title"/>
          </p:nvPr>
        </p:nvSpPr>
        <p:spPr>
          <a:xfrm>
            <a:off x="838200" y="999592"/>
            <a:ext cx="10515600" cy="1573223"/>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28ACB3E6-5365-48F5-8D2A-0B002BA357E3}"/>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4" name="Footer Placeholder 3">
            <a:extLst>
              <a:ext uri="{FF2B5EF4-FFF2-40B4-BE49-F238E27FC236}">
                <a16:creationId xmlns:a16="http://schemas.microsoft.com/office/drawing/2014/main" id="{FF7D8EE9-4D97-4B2F-8D38-41CB9EE774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2C5952-0A27-4FAB-A3FD-12003787676B}"/>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472004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08427-909D-4679-9192-BC99557A7D06}"/>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3" name="Footer Placeholder 2">
            <a:extLst>
              <a:ext uri="{FF2B5EF4-FFF2-40B4-BE49-F238E27FC236}">
                <a16:creationId xmlns:a16="http://schemas.microsoft.com/office/drawing/2014/main" id="{508E39A6-1E09-42B5-85B4-7E8B5AB2AE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938940-01DD-4C97-8649-E01C3B0EDF7C}"/>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8941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B3D-D568-40B4-A73A-1C8EA9ABB098}"/>
              </a:ext>
            </a:extLst>
          </p:cNvPr>
          <p:cNvSpPr>
            <a:spLocks noGrp="1"/>
          </p:cNvSpPr>
          <p:nvPr>
            <p:ph type="title"/>
          </p:nvPr>
        </p:nvSpPr>
        <p:spPr>
          <a:xfrm>
            <a:off x="839789" y="457200"/>
            <a:ext cx="3691818" cy="17018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D586EB3-917A-43B7-85BB-D00B5D2F07E4}"/>
              </a:ext>
            </a:extLst>
          </p:cNvPr>
          <p:cNvSpPr>
            <a:spLocks noGrp="1"/>
          </p:cNvSpPr>
          <p:nvPr>
            <p:ph idx="1"/>
          </p:nvPr>
        </p:nvSpPr>
        <p:spPr>
          <a:xfrm>
            <a:off x="5514798" y="987425"/>
            <a:ext cx="5840589" cy="5032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7AC029-3BC1-4637-A7F9-BC786DC26A38}"/>
              </a:ext>
            </a:extLst>
          </p:cNvPr>
          <p:cNvSpPr>
            <a:spLocks noGrp="1"/>
          </p:cNvSpPr>
          <p:nvPr>
            <p:ph type="body" sz="half" idx="2"/>
          </p:nvPr>
        </p:nvSpPr>
        <p:spPr>
          <a:xfrm>
            <a:off x="839789" y="2372360"/>
            <a:ext cx="3691817" cy="34966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0B948-89C5-4AC5-B7A0-17136F5C5A6A}"/>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6" name="Footer Placeholder 5">
            <a:extLst>
              <a:ext uri="{FF2B5EF4-FFF2-40B4-BE49-F238E27FC236}">
                <a16:creationId xmlns:a16="http://schemas.microsoft.com/office/drawing/2014/main" id="{F3A6C8C5-652F-46CB-BD26-E262B057F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FB50CB-E91F-4B71-81F0-800F2B51A34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8B69B885-FDB8-4C62-A285-A0CDC49A6B0C}"/>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803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941E-6445-4840-81AE-104EF7A4F7E9}"/>
              </a:ext>
            </a:extLst>
          </p:cNvPr>
          <p:cNvSpPr>
            <a:spLocks noGrp="1"/>
          </p:cNvSpPr>
          <p:nvPr>
            <p:ph type="title"/>
          </p:nvPr>
        </p:nvSpPr>
        <p:spPr>
          <a:xfrm>
            <a:off x="839789" y="457200"/>
            <a:ext cx="3696652" cy="17018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3F8B866-E32B-4AE7-AEF3-6974AE3288F3}"/>
              </a:ext>
            </a:extLst>
          </p:cNvPr>
          <p:cNvSpPr>
            <a:spLocks noGrp="1"/>
          </p:cNvSpPr>
          <p:nvPr>
            <p:ph type="pic" idx="1"/>
          </p:nvPr>
        </p:nvSpPr>
        <p:spPr>
          <a:xfrm>
            <a:off x="5786120" y="838200"/>
            <a:ext cx="560323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2ABB7A-E157-499A-B224-C2313181F569}"/>
              </a:ext>
            </a:extLst>
          </p:cNvPr>
          <p:cNvSpPr>
            <a:spLocks noGrp="1"/>
          </p:cNvSpPr>
          <p:nvPr>
            <p:ph type="body" sz="half" idx="2"/>
          </p:nvPr>
        </p:nvSpPr>
        <p:spPr>
          <a:xfrm>
            <a:off x="839789" y="2367280"/>
            <a:ext cx="3696652" cy="35017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77283-E2B8-405E-BB6E-9F121140E506}"/>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6" name="Footer Placeholder 5">
            <a:extLst>
              <a:ext uri="{FF2B5EF4-FFF2-40B4-BE49-F238E27FC236}">
                <a16:creationId xmlns:a16="http://schemas.microsoft.com/office/drawing/2014/main" id="{F9F21F05-EB94-417F-B19B-96FF3D9EC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7C3C7-B6DB-4064-8E66-9FB770C888ED}"/>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8" name="Straight Connector 7">
            <a:extLst>
              <a:ext uri="{FF2B5EF4-FFF2-40B4-BE49-F238E27FC236}">
                <a16:creationId xmlns:a16="http://schemas.microsoft.com/office/drawing/2014/main" id="{51E233FA-220A-423F-907E-5F81526A28A0}"/>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522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6D52-667C-4E67-9038-A0BDFD8CC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3E72AC-0272-475A-BD25-2AB7AC1DE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FBFF2-9ECB-4CDD-87FA-9DD1F87BFDE9}"/>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5" name="Footer Placeholder 4">
            <a:extLst>
              <a:ext uri="{FF2B5EF4-FFF2-40B4-BE49-F238E27FC236}">
                <a16:creationId xmlns:a16="http://schemas.microsoft.com/office/drawing/2014/main" id="{40AC12B3-DAF5-4BA7-A3A6-D0284716D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171AE-4A11-4035-A072-9AC4053FFA85}"/>
              </a:ext>
            </a:extLst>
          </p:cNvPr>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884390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2E95-2F50-48D3-B00E-4C259644E72E}"/>
              </a:ext>
            </a:extLst>
          </p:cNvPr>
          <p:cNvSpPr>
            <a:spLocks noGrp="1"/>
          </p:cNvSpPr>
          <p:nvPr>
            <p:ph type="title" orient="vert"/>
          </p:nvPr>
        </p:nvSpPr>
        <p:spPr>
          <a:xfrm>
            <a:off x="9050174" y="838199"/>
            <a:ext cx="2303626" cy="533876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2617C9B-4E02-49C8-B6DF-65ED3C990343}"/>
              </a:ext>
            </a:extLst>
          </p:cNvPr>
          <p:cNvSpPr>
            <a:spLocks noGrp="1"/>
          </p:cNvSpPr>
          <p:nvPr>
            <p:ph type="body" orient="vert" idx="1"/>
          </p:nvPr>
        </p:nvSpPr>
        <p:spPr>
          <a:xfrm>
            <a:off x="838200" y="838199"/>
            <a:ext cx="7734300" cy="5338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CA10C-AC31-4D80-B78F-08E48CDCB7F2}"/>
              </a:ext>
            </a:extLst>
          </p:cNvPr>
          <p:cNvSpPr>
            <a:spLocks noGrp="1"/>
          </p:cNvSpPr>
          <p:nvPr>
            <p:ph type="dt" sz="half" idx="10"/>
          </p:nvPr>
        </p:nvSpPr>
        <p:spPr/>
        <p:txBody>
          <a:bodyPr/>
          <a:lstStyle/>
          <a:p>
            <a:fld id="{F6CCBF3A-D7FB-4B97-8FD5-6FFB20CB1E84}" type="datetimeFigureOut">
              <a:rPr lang="en-US" smtClean="0"/>
              <a:t>1/19/2026</a:t>
            </a:fld>
            <a:endParaRPr lang="en-US"/>
          </a:p>
        </p:txBody>
      </p:sp>
      <p:sp>
        <p:nvSpPr>
          <p:cNvPr id="5" name="Footer Placeholder 4">
            <a:extLst>
              <a:ext uri="{FF2B5EF4-FFF2-40B4-BE49-F238E27FC236}">
                <a16:creationId xmlns:a16="http://schemas.microsoft.com/office/drawing/2014/main" id="{19AAB5B7-F312-4BC9-A5D3-72E065D1B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2E489-5442-4698-B6E3-3421A97C2834}"/>
              </a:ext>
            </a:extLst>
          </p:cNvPr>
          <p:cNvSpPr>
            <a:spLocks noGrp="1"/>
          </p:cNvSpPr>
          <p:nvPr>
            <p:ph type="sldNum" sz="quarter" idx="12"/>
          </p:nvPr>
        </p:nvSpPr>
        <p:spPr/>
        <p:txBody>
          <a:bodyPr/>
          <a:lstStyle/>
          <a:p>
            <a:fld id="{3109D357-8067-4A1F-97B2-93C5160B78D9}" type="slidenum">
              <a:rPr lang="en-US" smtClean="0"/>
              <a:t>‹#›</a:t>
            </a:fld>
            <a:endParaRPr lang="en-US"/>
          </a:p>
        </p:txBody>
      </p:sp>
      <p:cxnSp>
        <p:nvCxnSpPr>
          <p:cNvPr id="7" name="Straight Connector 6">
            <a:extLst>
              <a:ext uri="{FF2B5EF4-FFF2-40B4-BE49-F238E27FC236}">
                <a16:creationId xmlns:a16="http://schemas.microsoft.com/office/drawing/2014/main" id="{41F3A7E1-F157-4338-B7F7-9C0A2D60B7FF}"/>
              </a:ext>
            </a:extLst>
          </p:cNvPr>
          <p:cNvCxnSpPr>
            <a:cxnSpLocks/>
          </p:cNvCxnSpPr>
          <p:nvPr/>
        </p:nvCxnSpPr>
        <p:spPr>
          <a:xfrm>
            <a:off x="881133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3639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86284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a:defRPr sz="1000">
                <a:solidFill>
                  <a:schemeClr val="tx1"/>
                </a:solidFill>
              </a:defRPr>
            </a:lvl1pPr>
          </a:lstStyle>
          <a:p>
            <a:fld id="{F6CCBF3A-D7FB-4B97-8FD5-6FFB20CB1E84}" type="datetimeFigureOut">
              <a:rPr lang="en-US" smtClean="0"/>
              <a:t>1/19/2026</a:t>
            </a:fld>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5400000">
            <a:off x="-1131161" y="1592957"/>
            <a:ext cx="2973522"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a:defRPr sz="1000">
                <a:solidFill>
                  <a:schemeClr val="tx1"/>
                </a:solidFill>
              </a:defRPr>
            </a:lvl1pPr>
          </a:lstStyle>
          <a:p>
            <a:fld id="{3109D357-8067-4A1F-97B2-93C5160B78D9}"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517993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626F98-F213-4034-8836-88A71501D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6B3DAACF-D844-4480-94BE-2DE00ABEE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75199" y="726177"/>
            <a:ext cx="5241603" cy="5343721"/>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25805" h="5429563">
                <a:moveTo>
                  <a:pt x="5325805" y="2714782"/>
                </a:moveTo>
                <a:cubicBezTo>
                  <a:pt x="5325805" y="4214114"/>
                  <a:pt x="4110356" y="5429563"/>
                  <a:pt x="2611024" y="5429563"/>
                </a:cubicBezTo>
                <a:lnTo>
                  <a:pt x="1942188" y="5429563"/>
                </a:lnTo>
                <a:lnTo>
                  <a:pt x="668836" y="5429563"/>
                </a:lnTo>
                <a:lnTo>
                  <a:pt x="0" y="5429563"/>
                </a:lnTo>
                <a:lnTo>
                  <a:pt x="0" y="0"/>
                </a:lnTo>
                <a:lnTo>
                  <a:pt x="668836" y="0"/>
                </a:lnTo>
                <a:lnTo>
                  <a:pt x="1942188" y="0"/>
                </a:lnTo>
                <a:lnTo>
                  <a:pt x="2611024" y="0"/>
                </a:lnTo>
                <a:cubicBezTo>
                  <a:pt x="4110356" y="0"/>
                  <a:pt x="5325805" y="1215450"/>
                  <a:pt x="5325805" y="2714782"/>
                </a:cubicBezTo>
                <a:close/>
              </a:path>
            </a:pathLst>
          </a:custGeom>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86D5118-7303-C3F5-44AF-B50AAC3B0BC1}"/>
              </a:ext>
            </a:extLst>
          </p:cNvPr>
          <p:cNvSpPr>
            <a:spLocks noGrp="1"/>
          </p:cNvSpPr>
          <p:nvPr>
            <p:ph type="ctrTitle"/>
          </p:nvPr>
        </p:nvSpPr>
        <p:spPr>
          <a:xfrm>
            <a:off x="1524000" y="1336430"/>
            <a:ext cx="9144000" cy="2820573"/>
          </a:xfrm>
        </p:spPr>
        <p:txBody>
          <a:bodyPr>
            <a:normAutofit/>
          </a:bodyPr>
          <a:lstStyle/>
          <a:p>
            <a:pPr algn="ctr"/>
            <a:r>
              <a:rPr lang="en-GB" sz="6600" dirty="0"/>
              <a:t>Sin, Sacrifice &amp; Salvation</a:t>
            </a:r>
          </a:p>
        </p:txBody>
      </p:sp>
    </p:spTree>
    <p:extLst>
      <p:ext uri="{BB962C8B-B14F-4D97-AF65-F5344CB8AC3E}">
        <p14:creationId xmlns:p14="http://schemas.microsoft.com/office/powerpoint/2010/main" val="538677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7" name="Rectangle 196">
            <a:extLst>
              <a:ext uri="{FF2B5EF4-FFF2-40B4-BE49-F238E27FC236}">
                <a16:creationId xmlns:a16="http://schemas.microsoft.com/office/drawing/2014/main" id="{3DF1C918-BFFB-4543-86E1-0547B1842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Title 1"/>
          <p:cNvSpPr txBox="1">
            <a:spLocks noGrp="1"/>
          </p:cNvSpPr>
          <p:nvPr>
            <p:ph type="title"/>
          </p:nvPr>
        </p:nvSpPr>
        <p:spPr>
          <a:xfrm>
            <a:off x="2012219" y="365124"/>
            <a:ext cx="9341581" cy="1957285"/>
          </a:xfrm>
          <a:prstGeom prst="rect">
            <a:avLst/>
          </a:prstGeom>
        </p:spPr>
        <p:txBody>
          <a:bodyPr anchor="ctr">
            <a:normAutofit/>
          </a:bodyPr>
          <a:lstStyle>
            <a:lvl1pPr>
              <a:defRPr sz="3600"/>
            </a:lvl1pPr>
          </a:lstStyle>
          <a:p>
            <a:pPr algn="r"/>
            <a:r>
              <a:rPr lang="en-GB" sz="6600"/>
              <a:t>DISCUSSION</a:t>
            </a:r>
          </a:p>
        </p:txBody>
      </p:sp>
      <p:cxnSp>
        <p:nvCxnSpPr>
          <p:cNvPr id="199" name="Straight Connector 198">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590800"/>
            <a:ext cx="1217597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1">
            <a:extLst>
              <a:ext uri="{FF2B5EF4-FFF2-40B4-BE49-F238E27FC236}">
                <a16:creationId xmlns:a16="http://schemas.microsoft.com/office/drawing/2014/main" id="{D23D11D6-3080-7624-D054-056D0C13D579}"/>
              </a:ext>
            </a:extLst>
          </p:cNvPr>
          <p:cNvSpPr>
            <a:spLocks noGrp="1"/>
          </p:cNvSpPr>
          <p:nvPr>
            <p:ph idx="1"/>
          </p:nvPr>
        </p:nvSpPr>
        <p:spPr>
          <a:xfrm>
            <a:off x="838200" y="3118133"/>
            <a:ext cx="7889240" cy="2901667"/>
          </a:xfrm>
        </p:spPr>
        <p:txBody>
          <a:bodyPr anchor="b">
            <a:normAutofit/>
          </a:bodyPr>
          <a:lstStyle/>
          <a:p>
            <a:pPr marL="180473" indent="-180473">
              <a:buSzPct val="100000"/>
              <a:buChar char="•"/>
            </a:pPr>
            <a:r>
              <a:rPr lang="en-US" sz="3200" dirty="0"/>
              <a:t>What do you understand by the term ‘sin’?</a:t>
            </a:r>
          </a:p>
          <a:p>
            <a:pPr marL="180473" indent="-180473">
              <a:buSzPct val="100000"/>
              <a:buChar char="•"/>
            </a:pPr>
            <a:r>
              <a:rPr lang="en-US" sz="3200" dirty="0"/>
              <a:t>What does that word mean to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1042-9925-8948-091A-6673BA4EDA15}"/>
              </a:ext>
            </a:extLst>
          </p:cNvPr>
          <p:cNvSpPr>
            <a:spLocks noGrp="1"/>
          </p:cNvSpPr>
          <p:nvPr>
            <p:ph type="title"/>
          </p:nvPr>
        </p:nvSpPr>
        <p:spPr/>
        <p:txBody>
          <a:bodyPr/>
          <a:lstStyle/>
          <a:p>
            <a:r>
              <a:rPr lang="en-GB" sz="4400" dirty="0"/>
              <a:t>What is sin?</a:t>
            </a:r>
            <a:endParaRPr lang="en-GB" dirty="0"/>
          </a:p>
        </p:txBody>
      </p:sp>
      <p:sp>
        <p:nvSpPr>
          <p:cNvPr id="3" name="Content Placeholder 2">
            <a:extLst>
              <a:ext uri="{FF2B5EF4-FFF2-40B4-BE49-F238E27FC236}">
                <a16:creationId xmlns:a16="http://schemas.microsoft.com/office/drawing/2014/main" id="{AAA17815-A0BA-CEF8-C9E2-D404ED2051FA}"/>
              </a:ext>
            </a:extLst>
          </p:cNvPr>
          <p:cNvSpPr>
            <a:spLocks noGrp="1"/>
          </p:cNvSpPr>
          <p:nvPr>
            <p:ph idx="1"/>
          </p:nvPr>
        </p:nvSpPr>
        <p:spPr/>
        <p:txBody>
          <a:bodyPr>
            <a:normAutofit/>
          </a:bodyPr>
          <a:lstStyle/>
          <a:p>
            <a:pPr marL="0" indent="0">
              <a:buNone/>
            </a:pPr>
            <a:r>
              <a:rPr lang="en-US" sz="2800" dirty="0"/>
              <a:t>1) Any action or thought that separates humans from God</a:t>
            </a:r>
          </a:p>
          <a:p>
            <a:pPr marL="0" indent="0">
              <a:buNone/>
            </a:pPr>
            <a:r>
              <a:rPr lang="en-US" sz="2800" dirty="0"/>
              <a:t>2) </a:t>
            </a:r>
            <a:r>
              <a:rPr lang="en-US" sz="2800" dirty="0" err="1"/>
              <a:t>Behaviour</a:t>
            </a:r>
            <a:r>
              <a:rPr lang="en-US" sz="2800" dirty="0"/>
              <a:t> which is against God’s laws and wishes or against principles of morality</a:t>
            </a:r>
          </a:p>
          <a:p>
            <a:r>
              <a:rPr lang="en-US" sz="2800" dirty="0"/>
              <a:t>Sins may refer to either individual sin (e.g. bad actions) or the state of sin (e.g. human tendency to choose evil)</a:t>
            </a:r>
          </a:p>
          <a:p>
            <a:endParaRPr lang="en-US" sz="2800" dirty="0"/>
          </a:p>
          <a:p>
            <a:endParaRPr lang="en-GB" sz="2800" dirty="0"/>
          </a:p>
        </p:txBody>
      </p:sp>
    </p:spTree>
    <p:extLst>
      <p:ext uri="{BB962C8B-B14F-4D97-AF65-F5344CB8AC3E}">
        <p14:creationId xmlns:p14="http://schemas.microsoft.com/office/powerpoint/2010/main" val="343920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703C5-F160-2951-F49C-D48B84A7614E}"/>
              </a:ext>
            </a:extLst>
          </p:cNvPr>
          <p:cNvSpPr>
            <a:spLocks noGrp="1"/>
          </p:cNvSpPr>
          <p:nvPr>
            <p:ph type="title"/>
          </p:nvPr>
        </p:nvSpPr>
        <p:spPr/>
        <p:txBody>
          <a:bodyPr/>
          <a:lstStyle/>
          <a:p>
            <a:r>
              <a:rPr lang="en-GB" dirty="0"/>
              <a:t>Keywords</a:t>
            </a:r>
          </a:p>
        </p:txBody>
      </p:sp>
      <p:sp>
        <p:nvSpPr>
          <p:cNvPr id="4" name="TextBox 6">
            <a:extLst>
              <a:ext uri="{FF2B5EF4-FFF2-40B4-BE49-F238E27FC236}">
                <a16:creationId xmlns:a16="http://schemas.microsoft.com/office/drawing/2014/main" id="{F13E22FC-382B-E869-7015-29FE8A3D6717}"/>
              </a:ext>
            </a:extLst>
          </p:cNvPr>
          <p:cNvSpPr txBox="1"/>
          <p:nvPr/>
        </p:nvSpPr>
        <p:spPr>
          <a:xfrm>
            <a:off x="838200" y="2089619"/>
            <a:ext cx="10652760" cy="1200328"/>
          </a:xfrm>
          <a:prstGeom prst="rect">
            <a:avLst/>
          </a:prstGeom>
          <a:ln/>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2">
            <a:schemeClr val="accent1">
              <a:shade val="15000"/>
            </a:schemeClr>
          </a:lnRef>
          <a:fillRef idx="1">
            <a:schemeClr val="accent1"/>
          </a:fillRef>
          <a:effectRef idx="0">
            <a:schemeClr val="accent1"/>
          </a:effectRef>
          <a:fontRef idx="minor">
            <a:schemeClr val="lt1"/>
          </a:fontRef>
        </p:style>
        <p:txBody>
          <a:bodyPr wrap="square" lIns="45719" rIns="45719">
            <a:spAutoFit/>
          </a:bodyPr>
          <a:lstStyle/>
          <a:p>
            <a:pPr>
              <a:defRPr b="1">
                <a:solidFill>
                  <a:srgbClr val="FFFFFF"/>
                </a:solidFill>
              </a:defRPr>
            </a:pPr>
            <a:r>
              <a:rPr sz="2400" dirty="0"/>
              <a:t>Original sin:</a:t>
            </a:r>
          </a:p>
          <a:p>
            <a:pPr>
              <a:defRPr>
                <a:solidFill>
                  <a:srgbClr val="FFFFFF"/>
                </a:solidFill>
              </a:defRPr>
            </a:pPr>
            <a:r>
              <a:rPr lang="en-GB" sz="2400" dirty="0"/>
              <a:t>A </a:t>
            </a:r>
            <a:r>
              <a:rPr sz="2400" dirty="0"/>
              <a:t>doctrine that says that everyone is born with a built-in urge to do bad things and to disobey God; an important doctrine within the Catholic Church</a:t>
            </a:r>
          </a:p>
        </p:txBody>
      </p:sp>
      <p:sp>
        <p:nvSpPr>
          <p:cNvPr id="5" name="TextBox 7">
            <a:extLst>
              <a:ext uri="{FF2B5EF4-FFF2-40B4-BE49-F238E27FC236}">
                <a16:creationId xmlns:a16="http://schemas.microsoft.com/office/drawing/2014/main" id="{1A954E4E-4958-8528-B265-5908FAA7A7AE}"/>
              </a:ext>
            </a:extLst>
          </p:cNvPr>
          <p:cNvSpPr txBox="1"/>
          <p:nvPr/>
        </p:nvSpPr>
        <p:spPr>
          <a:xfrm>
            <a:off x="838200" y="3568054"/>
            <a:ext cx="10652760" cy="830997"/>
          </a:xfrm>
          <a:prstGeom prst="rect">
            <a:avLst/>
          </a:prstGeom>
          <a:ln/>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2">
            <a:schemeClr val="accent2">
              <a:shade val="15000"/>
            </a:schemeClr>
          </a:lnRef>
          <a:fillRef idx="1">
            <a:schemeClr val="accent2"/>
          </a:fillRef>
          <a:effectRef idx="0">
            <a:schemeClr val="accent2"/>
          </a:effectRef>
          <a:fontRef idx="minor">
            <a:schemeClr val="lt1"/>
          </a:fontRef>
        </p:style>
        <p:txBody>
          <a:bodyPr wrap="square" lIns="45719" rIns="45719">
            <a:spAutoFit/>
          </a:bodyPr>
          <a:lstStyle/>
          <a:p>
            <a:pPr>
              <a:defRPr b="1">
                <a:solidFill>
                  <a:srgbClr val="FFFFFF"/>
                </a:solidFill>
              </a:defRPr>
            </a:pPr>
            <a:r>
              <a:rPr sz="2400" dirty="0"/>
              <a:t>Salvation:</a:t>
            </a:r>
          </a:p>
          <a:p>
            <a:pPr>
              <a:defRPr>
                <a:solidFill>
                  <a:srgbClr val="FFFFFF"/>
                </a:solidFill>
              </a:defRPr>
            </a:pPr>
            <a:r>
              <a:rPr sz="2400" dirty="0"/>
              <a:t>Saving the soul, deliverance from sin and admission to heaven brought about by Jesus</a:t>
            </a:r>
          </a:p>
        </p:txBody>
      </p:sp>
    </p:spTree>
    <p:extLst>
      <p:ext uri="{BB962C8B-B14F-4D97-AF65-F5344CB8AC3E}">
        <p14:creationId xmlns:p14="http://schemas.microsoft.com/office/powerpoint/2010/main" val="2162346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BB8CC1-3D85-D114-4E55-1A6D7E5646AC}"/>
              </a:ext>
            </a:extLst>
          </p:cNvPr>
          <p:cNvSpPr txBox="1"/>
          <p:nvPr/>
        </p:nvSpPr>
        <p:spPr>
          <a:xfrm>
            <a:off x="1198880" y="1951841"/>
            <a:ext cx="10007600" cy="4154984"/>
          </a:xfrm>
          <a:prstGeom prst="rect">
            <a:avLst/>
          </a:prstGeom>
          <a:noFill/>
        </p:spPr>
        <p:txBody>
          <a:bodyPr wrap="square">
            <a:spAutoFit/>
          </a:bodyPr>
          <a:lstStyle/>
          <a:p>
            <a:r>
              <a:rPr lang="en-US" sz="2400" b="1" i="0" dirty="0">
                <a:solidFill>
                  <a:srgbClr val="000000"/>
                </a:solidFill>
                <a:effectLst/>
              </a:rPr>
              <a:t>3 </a:t>
            </a:r>
            <a:r>
              <a:rPr lang="en-US" sz="2400" b="0" i="0" dirty="0">
                <a:solidFill>
                  <a:srgbClr val="000000"/>
                </a:solidFill>
                <a:effectLst/>
              </a:rPr>
              <a:t>Now the serpent was more crafty than any other wild animal that the </a:t>
            </a:r>
            <a:r>
              <a:rPr lang="en-US" sz="2400" b="0" i="0" cap="small" dirty="0">
                <a:solidFill>
                  <a:srgbClr val="000000"/>
                </a:solidFill>
                <a:effectLst/>
              </a:rPr>
              <a:t>Lord</a:t>
            </a:r>
            <a:r>
              <a:rPr lang="en-US" sz="2400" b="0" i="0" dirty="0">
                <a:solidFill>
                  <a:srgbClr val="000000"/>
                </a:solidFill>
                <a:effectLst/>
              </a:rPr>
              <a:t> God had made. He said to the woman, “Did God say, ‘You shall not eat from any tree in the garden’?” </a:t>
            </a:r>
            <a:r>
              <a:rPr lang="en-US" sz="2400" b="1" i="0" baseline="30000" dirty="0">
                <a:solidFill>
                  <a:srgbClr val="000000"/>
                </a:solidFill>
                <a:effectLst/>
              </a:rPr>
              <a:t>2 </a:t>
            </a:r>
            <a:r>
              <a:rPr lang="en-US" sz="2400" b="0" i="0" dirty="0">
                <a:solidFill>
                  <a:srgbClr val="000000"/>
                </a:solidFill>
                <a:effectLst/>
              </a:rPr>
              <a:t>The woman said to the serpent, “We may eat of the fruit of the trees in the garden, </a:t>
            </a:r>
            <a:r>
              <a:rPr lang="en-US" sz="2400" b="1" i="0" baseline="30000" dirty="0">
                <a:solidFill>
                  <a:srgbClr val="000000"/>
                </a:solidFill>
                <a:effectLst/>
              </a:rPr>
              <a:t>3 </a:t>
            </a:r>
            <a:r>
              <a:rPr lang="en-US" sz="2400" b="0" i="0" dirty="0">
                <a:solidFill>
                  <a:srgbClr val="000000"/>
                </a:solidFill>
                <a:effectLst/>
              </a:rPr>
              <a:t>but God said, ‘You shall not eat of the fruit of the tree that is in the middle of the garden, nor shall you touch it, or you shall die.’ ” </a:t>
            </a:r>
            <a:r>
              <a:rPr lang="en-US" sz="2400" b="1" i="0" baseline="30000" dirty="0">
                <a:solidFill>
                  <a:srgbClr val="000000"/>
                </a:solidFill>
                <a:effectLst/>
              </a:rPr>
              <a:t>4 </a:t>
            </a:r>
            <a:r>
              <a:rPr lang="en-US" sz="2400" b="0" i="0" dirty="0">
                <a:solidFill>
                  <a:srgbClr val="000000"/>
                </a:solidFill>
                <a:effectLst/>
              </a:rPr>
              <a:t>But the serpent said to the woman, “You will not die, </a:t>
            </a:r>
            <a:r>
              <a:rPr lang="en-US" sz="2400" b="1" i="0" baseline="30000" dirty="0">
                <a:solidFill>
                  <a:srgbClr val="000000"/>
                </a:solidFill>
                <a:effectLst/>
              </a:rPr>
              <a:t>5 </a:t>
            </a:r>
            <a:r>
              <a:rPr lang="en-US" sz="2400" b="0" i="0" dirty="0">
                <a:solidFill>
                  <a:srgbClr val="000000"/>
                </a:solidFill>
                <a:effectLst/>
              </a:rPr>
              <a:t>for God knows that when you eat of it your eyes will be opened, and you will be like God, knowing good and evil.” </a:t>
            </a:r>
            <a:r>
              <a:rPr lang="en-US" sz="2400" b="1" i="0" baseline="30000" dirty="0">
                <a:solidFill>
                  <a:srgbClr val="000000"/>
                </a:solidFill>
                <a:effectLst/>
              </a:rPr>
              <a:t>6 </a:t>
            </a:r>
            <a:r>
              <a:rPr lang="en-US" sz="2400" b="0" i="0" dirty="0">
                <a:solidFill>
                  <a:srgbClr val="000000"/>
                </a:solidFill>
                <a:effectLst/>
              </a:rPr>
              <a:t>So when the woman saw that the tree was good for food and that it was a delight to the eyes and that the tree was to be desired to make one wise, she took of its fruit and ate, and she also gave some to her husband, who was with her, and he ate. </a:t>
            </a:r>
            <a:r>
              <a:rPr lang="en-US" sz="2400" b="1" i="0" baseline="30000" dirty="0">
                <a:solidFill>
                  <a:srgbClr val="000000"/>
                </a:solidFill>
                <a:effectLst/>
              </a:rPr>
              <a:t>7 </a:t>
            </a:r>
            <a:r>
              <a:rPr lang="en-US" sz="2400" b="0" i="0" dirty="0">
                <a:solidFill>
                  <a:srgbClr val="000000"/>
                </a:solidFill>
                <a:effectLst/>
              </a:rPr>
              <a:t>Then the eyes of both were opened</a:t>
            </a:r>
            <a:endParaRPr lang="en-GB" sz="2400" dirty="0"/>
          </a:p>
        </p:txBody>
      </p:sp>
      <p:sp>
        <p:nvSpPr>
          <p:cNvPr id="4" name="Title 3">
            <a:extLst>
              <a:ext uri="{FF2B5EF4-FFF2-40B4-BE49-F238E27FC236}">
                <a16:creationId xmlns:a16="http://schemas.microsoft.com/office/drawing/2014/main" id="{7A2B2653-EC26-13FF-8459-52FFEF39FF2A}"/>
              </a:ext>
            </a:extLst>
          </p:cNvPr>
          <p:cNvSpPr>
            <a:spLocks noGrp="1"/>
          </p:cNvSpPr>
          <p:nvPr>
            <p:ph type="title"/>
          </p:nvPr>
        </p:nvSpPr>
        <p:spPr/>
        <p:txBody>
          <a:bodyPr>
            <a:normAutofit/>
          </a:bodyPr>
          <a:lstStyle/>
          <a:p>
            <a:r>
              <a:rPr lang="en-GB" sz="3200" dirty="0"/>
              <a:t>Read the extract below</a:t>
            </a:r>
          </a:p>
        </p:txBody>
      </p:sp>
    </p:spTree>
    <p:extLst>
      <p:ext uri="{BB962C8B-B14F-4D97-AF65-F5344CB8AC3E}">
        <p14:creationId xmlns:p14="http://schemas.microsoft.com/office/powerpoint/2010/main" val="2356102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Title 1"/>
          <p:cNvSpPr txBox="1">
            <a:spLocks noGrp="1"/>
          </p:cNvSpPr>
          <p:nvPr>
            <p:ph type="title"/>
          </p:nvPr>
        </p:nvSpPr>
        <p:spPr>
          <a:xfrm>
            <a:off x="636693" y="102383"/>
            <a:ext cx="8596670" cy="894080"/>
          </a:xfrm>
          <a:prstGeom prst="rect">
            <a:avLst/>
          </a:prstGeom>
        </p:spPr>
        <p:txBody>
          <a:bodyPr/>
          <a:lstStyle/>
          <a:p>
            <a:r>
              <a:rPr dirty="0"/>
              <a:t>The origins of sin </a:t>
            </a:r>
          </a:p>
        </p:txBody>
      </p:sp>
      <p:pic>
        <p:nvPicPr>
          <p:cNvPr id="198" name="Content Placeholder 5" descr="Content Placeholder 5"/>
          <p:cNvPicPr>
            <a:picLocks noChangeAspect="1"/>
          </p:cNvPicPr>
          <p:nvPr/>
        </p:nvPicPr>
        <p:blipFill>
          <a:blip r:embed="rId2"/>
          <a:srcRect b="7443"/>
          <a:stretch>
            <a:fillRect/>
          </a:stretch>
        </p:blipFill>
        <p:spPr>
          <a:xfrm>
            <a:off x="6607439" y="1688970"/>
            <a:ext cx="3339201" cy="1740029"/>
          </a:xfrm>
          <a:prstGeom prst="rect">
            <a:avLst/>
          </a:prstGeom>
          <a:ln w="12700">
            <a:miter lim="400000"/>
          </a:ln>
        </p:spPr>
      </p:pic>
      <p:sp>
        <p:nvSpPr>
          <p:cNvPr id="199" name="TextBox 6"/>
          <p:cNvSpPr txBox="1"/>
          <p:nvPr/>
        </p:nvSpPr>
        <p:spPr>
          <a:xfrm>
            <a:off x="1051560" y="1402080"/>
            <a:ext cx="4343400" cy="4832092"/>
          </a:xfrm>
          <a:prstGeom prst="rect">
            <a:avLst/>
          </a:prstGeom>
          <a:solidFill>
            <a:srgbClr val="FFFFFF"/>
          </a:solidFill>
          <a:ln w="38100" cap="rnd">
            <a:solidFill>
              <a:schemeClr val="accent2"/>
            </a:solid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sz="2200" dirty="0"/>
              <a:t>Genesis 3 describes the story of </a:t>
            </a:r>
            <a:r>
              <a:rPr sz="2200" b="1" dirty="0"/>
              <a:t>Adam</a:t>
            </a:r>
            <a:r>
              <a:rPr sz="2200" dirty="0"/>
              <a:t> and </a:t>
            </a:r>
            <a:r>
              <a:rPr sz="2200" b="1" dirty="0"/>
              <a:t>Eve</a:t>
            </a:r>
            <a:r>
              <a:rPr sz="2200" dirty="0"/>
              <a:t>. Despite living in paradise, they sin against God by breaking an instruction from God. They ate from the fruit of the tree of the knowledge of good and evil (which they had been forbidden to do). </a:t>
            </a:r>
            <a:r>
              <a:rPr lang="en-GB" sz="2200" dirty="0"/>
              <a:t>This act introduced sin, evil and death into the world.</a:t>
            </a:r>
            <a:endParaRPr sz="2200" dirty="0"/>
          </a:p>
          <a:p>
            <a:endParaRPr sz="2200" dirty="0"/>
          </a:p>
          <a:p>
            <a:r>
              <a:rPr lang="en-US" sz="2200" dirty="0"/>
              <a:t>In Christian teaching, the sinfulness of Adam and Eve caused a separation from God that could result in humanity’s eternal punishment. </a:t>
            </a:r>
            <a:r>
              <a:rPr sz="2200" dirty="0"/>
              <a:t>This idea is referred to as </a:t>
            </a:r>
            <a:r>
              <a:rPr sz="2200" u="sng" dirty="0"/>
              <a:t>original sin.</a:t>
            </a:r>
          </a:p>
        </p:txBody>
      </p:sp>
      <p:sp>
        <p:nvSpPr>
          <p:cNvPr id="200" name="TextBox 7"/>
          <p:cNvSpPr txBox="1"/>
          <p:nvPr/>
        </p:nvSpPr>
        <p:spPr>
          <a:xfrm>
            <a:off x="6096000" y="3775708"/>
            <a:ext cx="5739631" cy="2431435"/>
          </a:xfrm>
          <a:prstGeom prst="rect">
            <a:avLst/>
          </a:prstGeom>
          <a:ln/>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2">
            <a:schemeClr val="accent3">
              <a:shade val="15000"/>
            </a:schemeClr>
          </a:lnRef>
          <a:fillRef idx="1">
            <a:schemeClr val="accent3"/>
          </a:fillRef>
          <a:effectRef idx="0">
            <a:schemeClr val="accent3"/>
          </a:effectRef>
          <a:fontRef idx="minor">
            <a:schemeClr val="lt1"/>
          </a:fontRef>
        </p:style>
        <p:txBody>
          <a:bodyPr lIns="45719" rIns="45719">
            <a:spAutoFit/>
          </a:bodyPr>
          <a:lstStyle/>
          <a:p>
            <a:pPr>
              <a:defRPr sz="1400" i="1">
                <a:solidFill>
                  <a:srgbClr val="2E75B6"/>
                </a:solidFill>
              </a:defRPr>
            </a:pPr>
            <a:r>
              <a:rPr sz="1900" dirty="0">
                <a:solidFill>
                  <a:schemeClr val="bg1"/>
                </a:solidFill>
              </a:rPr>
              <a:t>“Because you have listened to the voice of your wife, and have eaten of the tree about which I commanded you, ‘You shall not eat of it,’ cursed is the ground because of you; in toil you shall eat of it all the days of your life; thorns and thistles it shall bring forth for you; and you shall eat the plants of the field. </a:t>
            </a:r>
            <a:r>
              <a:rPr sz="1900" b="1" dirty="0">
                <a:solidFill>
                  <a:schemeClr val="bg1"/>
                </a:solidFill>
              </a:rPr>
              <a:t>By the sweat of your face you shall eat bread until you return to the ground, for out of it you were taken; you are dust, and to dust you shall return.</a:t>
            </a:r>
            <a:r>
              <a:rPr sz="1900" dirty="0">
                <a:solidFill>
                  <a:schemeClr val="bg1"/>
                </a:solidFill>
              </a:rPr>
              <a:t>” – </a:t>
            </a:r>
            <a:r>
              <a:rPr sz="1900" i="0" dirty="0">
                <a:solidFill>
                  <a:schemeClr val="bg1"/>
                </a:solidFill>
              </a:rPr>
              <a:t>Genesis 3: 17-19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11CC1D-43CD-4F3D-9C43-B8D364FAC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497C25-E685-E6D3-019A-94E13AC4B8B6}"/>
              </a:ext>
            </a:extLst>
          </p:cNvPr>
          <p:cNvSpPr>
            <a:spLocks noGrp="1"/>
          </p:cNvSpPr>
          <p:nvPr>
            <p:ph type="title"/>
          </p:nvPr>
        </p:nvSpPr>
        <p:spPr>
          <a:xfrm>
            <a:off x="746977" y="838200"/>
            <a:ext cx="3098583" cy="5181600"/>
          </a:xfrm>
        </p:spPr>
        <p:txBody>
          <a:bodyPr anchor="t">
            <a:normAutofit/>
          </a:bodyPr>
          <a:lstStyle/>
          <a:p>
            <a:r>
              <a:rPr lang="en-GB" sz="3600"/>
              <a:t>Impact of sin</a:t>
            </a:r>
          </a:p>
        </p:txBody>
      </p:sp>
      <p:cxnSp>
        <p:nvCxnSpPr>
          <p:cNvPr id="11" name="Straight Connector 10">
            <a:extLst>
              <a:ext uri="{FF2B5EF4-FFF2-40B4-BE49-F238E27FC236}">
                <a16:creationId xmlns:a16="http://schemas.microsoft.com/office/drawing/2014/main" id="{B200CA7E-42AB-4F9C-8519-0EBCEC0AF2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0970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C1311D4-F3CF-0094-90B5-2D8E18E15304}"/>
              </a:ext>
            </a:extLst>
          </p:cNvPr>
          <p:cNvGraphicFramePr>
            <a:graphicFrameLocks noGrp="1"/>
          </p:cNvGraphicFramePr>
          <p:nvPr>
            <p:ph idx="1"/>
            <p:extLst>
              <p:ext uri="{D42A27DB-BD31-4B8C-83A1-F6EECF244321}">
                <p14:modId xmlns:p14="http://schemas.microsoft.com/office/powerpoint/2010/main" val="1245214626"/>
              </p:ext>
            </p:extLst>
          </p:nvPr>
        </p:nvGraphicFramePr>
        <p:xfrm>
          <a:off x="4981434" y="792051"/>
          <a:ext cx="6372366" cy="53801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0115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D93D0A-6F4A-8B07-707A-205E01CCC5AF}"/>
              </a:ext>
            </a:extLst>
          </p:cNvPr>
          <p:cNvSpPr txBox="1"/>
          <p:nvPr/>
        </p:nvSpPr>
        <p:spPr>
          <a:xfrm>
            <a:off x="1257300" y="2275024"/>
            <a:ext cx="4277360" cy="523220"/>
          </a:xfrm>
          <a:prstGeom prst="rect">
            <a:avLst/>
          </a:prstGeom>
          <a:noFill/>
        </p:spPr>
        <p:txBody>
          <a:bodyPr wrap="square" rtlCol="0">
            <a:spAutoFit/>
          </a:bodyPr>
          <a:lstStyle/>
          <a:p>
            <a:r>
              <a:rPr lang="en-GB" sz="2800" kern="1200" dirty="0">
                <a:solidFill>
                  <a:schemeClr val="tx1"/>
                </a:solidFill>
                <a:latin typeface="+mn-lt"/>
                <a:ea typeface="+mn-ea"/>
                <a:cs typeface="+mn-cs"/>
              </a:rPr>
              <a:t>Jesus enters Jerusalem</a:t>
            </a:r>
            <a:r>
              <a:rPr lang="en-GB" sz="2800" dirty="0"/>
              <a:t> </a:t>
            </a:r>
          </a:p>
        </p:txBody>
      </p:sp>
      <p:sp>
        <p:nvSpPr>
          <p:cNvPr id="6" name="TextBox 5">
            <a:extLst>
              <a:ext uri="{FF2B5EF4-FFF2-40B4-BE49-F238E27FC236}">
                <a16:creationId xmlns:a16="http://schemas.microsoft.com/office/drawing/2014/main" id="{53522A34-5648-BD43-1369-F2F04B010FAF}"/>
              </a:ext>
            </a:extLst>
          </p:cNvPr>
          <p:cNvSpPr txBox="1"/>
          <p:nvPr/>
        </p:nvSpPr>
        <p:spPr>
          <a:xfrm>
            <a:off x="5651500" y="3638306"/>
            <a:ext cx="6096000" cy="954107"/>
          </a:xfrm>
          <a:prstGeom prst="rect">
            <a:avLst/>
          </a:prstGeom>
          <a:noFill/>
        </p:spPr>
        <p:txBody>
          <a:bodyPr wrap="square">
            <a:spAutoFit/>
          </a:bodyPr>
          <a:lstStyle/>
          <a:p>
            <a:pPr marL="411480" lvl="1" indent="0" algn="ctr" defTabSz="822960">
              <a:spcBef>
                <a:spcPts val="450"/>
              </a:spcBef>
              <a:buNone/>
            </a:pPr>
            <a:r>
              <a:rPr lang="en-GB" sz="2800" kern="1200" dirty="0">
                <a:solidFill>
                  <a:schemeClr val="tx1"/>
                </a:solidFill>
                <a:latin typeface="+mn-lt"/>
                <a:ea typeface="+mn-ea"/>
                <a:cs typeface="+mn-cs"/>
              </a:rPr>
              <a:t>Drives moneylenders out of the Temple</a:t>
            </a:r>
          </a:p>
        </p:txBody>
      </p:sp>
      <p:sp>
        <p:nvSpPr>
          <p:cNvPr id="8" name="TextBox 7">
            <a:extLst>
              <a:ext uri="{FF2B5EF4-FFF2-40B4-BE49-F238E27FC236}">
                <a16:creationId xmlns:a16="http://schemas.microsoft.com/office/drawing/2014/main" id="{C42DF67E-20EB-1D1E-8BAC-72FC8FA9247F}"/>
              </a:ext>
            </a:extLst>
          </p:cNvPr>
          <p:cNvSpPr txBox="1"/>
          <p:nvPr/>
        </p:nvSpPr>
        <p:spPr>
          <a:xfrm>
            <a:off x="955040" y="5432475"/>
            <a:ext cx="6096000" cy="954107"/>
          </a:xfrm>
          <a:prstGeom prst="rect">
            <a:avLst/>
          </a:prstGeom>
          <a:noFill/>
        </p:spPr>
        <p:txBody>
          <a:bodyPr wrap="square">
            <a:spAutoFit/>
          </a:bodyPr>
          <a:lstStyle/>
          <a:p>
            <a:pPr marL="411480" lvl="1" indent="0" algn="ctr" defTabSz="822960">
              <a:spcBef>
                <a:spcPts val="450"/>
              </a:spcBef>
              <a:buNone/>
            </a:pPr>
            <a:r>
              <a:rPr lang="en-GB" sz="2800" kern="1200" dirty="0">
                <a:solidFill>
                  <a:schemeClr val="tx1"/>
                </a:solidFill>
                <a:latin typeface="+mn-lt"/>
                <a:ea typeface="+mn-ea"/>
                <a:cs typeface="+mn-cs"/>
              </a:rPr>
              <a:t>Jesus debates Sadducees, Pharisees and other Jewish religious leaders</a:t>
            </a:r>
          </a:p>
        </p:txBody>
      </p:sp>
      <p:sp>
        <p:nvSpPr>
          <p:cNvPr id="10" name="TextBox 9">
            <a:extLst>
              <a:ext uri="{FF2B5EF4-FFF2-40B4-BE49-F238E27FC236}">
                <a16:creationId xmlns:a16="http://schemas.microsoft.com/office/drawing/2014/main" id="{BF745CD5-6FFF-5B31-115F-789BC3ED0A37}"/>
              </a:ext>
            </a:extLst>
          </p:cNvPr>
          <p:cNvSpPr txBox="1"/>
          <p:nvPr/>
        </p:nvSpPr>
        <p:spPr>
          <a:xfrm>
            <a:off x="-355600" y="1000500"/>
            <a:ext cx="6096000" cy="954107"/>
          </a:xfrm>
          <a:prstGeom prst="rect">
            <a:avLst/>
          </a:prstGeom>
          <a:noFill/>
        </p:spPr>
        <p:txBody>
          <a:bodyPr wrap="square">
            <a:spAutoFit/>
          </a:bodyPr>
          <a:lstStyle/>
          <a:p>
            <a:pPr marL="228600" lvl="1" indent="0" algn="ctr">
              <a:lnSpc>
                <a:spcPct val="100000"/>
              </a:lnSpc>
              <a:buNone/>
            </a:pPr>
            <a:r>
              <a:rPr lang="en-US" sz="2800" dirty="0">
                <a:solidFill>
                  <a:schemeClr val="tx2"/>
                </a:solidFill>
              </a:rPr>
              <a:t>Jesus’ enemies conspire to kill him; Judas betrays Jesus</a:t>
            </a:r>
          </a:p>
        </p:txBody>
      </p:sp>
      <p:sp>
        <p:nvSpPr>
          <p:cNvPr id="12" name="TextBox 11">
            <a:extLst>
              <a:ext uri="{FF2B5EF4-FFF2-40B4-BE49-F238E27FC236}">
                <a16:creationId xmlns:a16="http://schemas.microsoft.com/office/drawing/2014/main" id="{A54A7C8B-841F-37F2-9A84-31A32FA8E014}"/>
              </a:ext>
            </a:extLst>
          </p:cNvPr>
          <p:cNvSpPr txBox="1"/>
          <p:nvPr/>
        </p:nvSpPr>
        <p:spPr>
          <a:xfrm>
            <a:off x="6329680" y="5894140"/>
            <a:ext cx="6096000" cy="954107"/>
          </a:xfrm>
          <a:prstGeom prst="rect">
            <a:avLst/>
          </a:prstGeom>
          <a:noFill/>
        </p:spPr>
        <p:txBody>
          <a:bodyPr wrap="square">
            <a:spAutoFit/>
          </a:bodyPr>
          <a:lstStyle/>
          <a:p>
            <a:pPr marL="228600" lvl="1" indent="0" algn="ctr">
              <a:lnSpc>
                <a:spcPct val="100000"/>
              </a:lnSpc>
              <a:buNone/>
            </a:pPr>
            <a:r>
              <a:rPr lang="en-US" sz="2800" dirty="0">
                <a:solidFill>
                  <a:schemeClr val="tx2"/>
                </a:solidFill>
              </a:rPr>
              <a:t>Jesus holds final Passover meal with</a:t>
            </a:r>
          </a:p>
          <a:p>
            <a:pPr marL="228600" lvl="1" indent="0" algn="ctr">
              <a:lnSpc>
                <a:spcPct val="100000"/>
              </a:lnSpc>
              <a:buNone/>
            </a:pPr>
            <a:r>
              <a:rPr lang="en-US" sz="2800" dirty="0">
                <a:solidFill>
                  <a:schemeClr val="tx2"/>
                </a:solidFill>
              </a:rPr>
              <a:t>12 disciples</a:t>
            </a:r>
          </a:p>
        </p:txBody>
      </p:sp>
      <p:sp>
        <p:nvSpPr>
          <p:cNvPr id="14" name="TextBox 13">
            <a:extLst>
              <a:ext uri="{FF2B5EF4-FFF2-40B4-BE49-F238E27FC236}">
                <a16:creationId xmlns:a16="http://schemas.microsoft.com/office/drawing/2014/main" id="{514A72BB-2EC3-D354-7CF8-97BAE4556F77}"/>
              </a:ext>
            </a:extLst>
          </p:cNvPr>
          <p:cNvSpPr txBox="1"/>
          <p:nvPr/>
        </p:nvSpPr>
        <p:spPr>
          <a:xfrm>
            <a:off x="5372100" y="2275024"/>
            <a:ext cx="5488940" cy="523220"/>
          </a:xfrm>
          <a:prstGeom prst="rect">
            <a:avLst/>
          </a:prstGeom>
          <a:noFill/>
        </p:spPr>
        <p:txBody>
          <a:bodyPr wrap="square">
            <a:spAutoFit/>
          </a:bodyPr>
          <a:lstStyle/>
          <a:p>
            <a:pPr marL="228600" lvl="1" indent="0" algn="ctr">
              <a:lnSpc>
                <a:spcPct val="100000"/>
              </a:lnSpc>
              <a:buNone/>
            </a:pPr>
            <a:r>
              <a:rPr lang="en-US" sz="2800" dirty="0">
                <a:solidFill>
                  <a:schemeClr val="tx2"/>
                </a:solidFill>
              </a:rPr>
              <a:t>Jesus is arrested at Gethsemane</a:t>
            </a:r>
          </a:p>
        </p:txBody>
      </p:sp>
      <p:sp>
        <p:nvSpPr>
          <p:cNvPr id="16" name="TextBox 15">
            <a:extLst>
              <a:ext uri="{FF2B5EF4-FFF2-40B4-BE49-F238E27FC236}">
                <a16:creationId xmlns:a16="http://schemas.microsoft.com/office/drawing/2014/main" id="{65E5F83C-42DA-271D-FF93-BF880FC36DE4}"/>
              </a:ext>
            </a:extLst>
          </p:cNvPr>
          <p:cNvSpPr txBox="1"/>
          <p:nvPr/>
        </p:nvSpPr>
        <p:spPr>
          <a:xfrm>
            <a:off x="5534660" y="271363"/>
            <a:ext cx="6212840" cy="1384995"/>
          </a:xfrm>
          <a:prstGeom prst="rect">
            <a:avLst/>
          </a:prstGeom>
          <a:noFill/>
        </p:spPr>
        <p:txBody>
          <a:bodyPr wrap="square">
            <a:spAutoFit/>
          </a:bodyPr>
          <a:lstStyle/>
          <a:p>
            <a:pPr marL="228600" lvl="1" indent="0" algn="ctr">
              <a:lnSpc>
                <a:spcPct val="100000"/>
              </a:lnSpc>
              <a:buNone/>
            </a:pPr>
            <a:r>
              <a:rPr lang="en-US" sz="2800" dirty="0">
                <a:solidFill>
                  <a:schemeClr val="tx2"/>
                </a:solidFill>
              </a:rPr>
              <a:t>Trial before Jewish authorities; abandoned by disciples; Peter denies knowing him</a:t>
            </a:r>
          </a:p>
        </p:txBody>
      </p:sp>
      <p:sp>
        <p:nvSpPr>
          <p:cNvPr id="18" name="TextBox 17">
            <a:extLst>
              <a:ext uri="{FF2B5EF4-FFF2-40B4-BE49-F238E27FC236}">
                <a16:creationId xmlns:a16="http://schemas.microsoft.com/office/drawing/2014/main" id="{305F15C0-CF36-AFB6-D8DA-1F6E22C72786}"/>
              </a:ext>
            </a:extLst>
          </p:cNvPr>
          <p:cNvSpPr txBox="1"/>
          <p:nvPr/>
        </p:nvSpPr>
        <p:spPr>
          <a:xfrm>
            <a:off x="-187960" y="3625207"/>
            <a:ext cx="6212840" cy="1384995"/>
          </a:xfrm>
          <a:prstGeom prst="rect">
            <a:avLst/>
          </a:prstGeom>
          <a:noFill/>
        </p:spPr>
        <p:txBody>
          <a:bodyPr wrap="square">
            <a:spAutoFit/>
          </a:bodyPr>
          <a:lstStyle/>
          <a:p>
            <a:pPr marL="228600" lvl="1" indent="0" algn="ctr">
              <a:lnSpc>
                <a:spcPct val="100000"/>
              </a:lnSpc>
              <a:buNone/>
            </a:pPr>
            <a:r>
              <a:rPr lang="en-US" sz="2800" dirty="0">
                <a:solidFill>
                  <a:schemeClr val="tx2"/>
                </a:solidFill>
              </a:rPr>
              <a:t>Trial before Pontius Pilate; declared guilty of treason and sentenced to crucifixion</a:t>
            </a:r>
          </a:p>
        </p:txBody>
      </p:sp>
      <p:sp>
        <p:nvSpPr>
          <p:cNvPr id="20" name="TextBox 19">
            <a:extLst>
              <a:ext uri="{FF2B5EF4-FFF2-40B4-BE49-F238E27FC236}">
                <a16:creationId xmlns:a16="http://schemas.microsoft.com/office/drawing/2014/main" id="{35DD1490-8310-3A57-A85A-299DB15794B4}"/>
              </a:ext>
            </a:extLst>
          </p:cNvPr>
          <p:cNvSpPr txBox="1"/>
          <p:nvPr/>
        </p:nvSpPr>
        <p:spPr>
          <a:xfrm>
            <a:off x="172720" y="158589"/>
            <a:ext cx="355092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228600" lvl="1" indent="0" algn="ctr">
              <a:lnSpc>
                <a:spcPct val="100000"/>
              </a:lnSpc>
              <a:buNone/>
            </a:pPr>
            <a:r>
              <a:rPr lang="en-US" b="1" dirty="0">
                <a:solidFill>
                  <a:schemeClr val="bg1"/>
                </a:solidFill>
              </a:rPr>
              <a:t>Put these events in order:</a:t>
            </a:r>
          </a:p>
        </p:txBody>
      </p:sp>
    </p:spTree>
    <p:extLst>
      <p:ext uri="{BB962C8B-B14F-4D97-AF65-F5344CB8AC3E}">
        <p14:creationId xmlns:p14="http://schemas.microsoft.com/office/powerpoint/2010/main" val="3003560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anhedrin jesus t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6" y="965200"/>
            <a:ext cx="9121422" cy="5130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906000" y="1447800"/>
            <a:ext cx="2019300" cy="36933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GB" dirty="0"/>
              <a:t>The </a:t>
            </a:r>
            <a:r>
              <a:rPr lang="en-GB" b="1" dirty="0">
                <a:solidFill>
                  <a:schemeClr val="tx1"/>
                </a:solidFill>
              </a:rPr>
              <a:t>Sanhedrin</a:t>
            </a:r>
            <a:r>
              <a:rPr lang="en-GB" dirty="0"/>
              <a:t> was a council that consisted of the powerful Jews in Israel – the High Priest and chief priests, Sadducees, scribes and Pharisees. It included teachers, priests and lawyers.</a:t>
            </a:r>
          </a:p>
        </p:txBody>
      </p:sp>
    </p:spTree>
    <p:extLst>
      <p:ext uri="{BB962C8B-B14F-4D97-AF65-F5344CB8AC3E}">
        <p14:creationId xmlns:p14="http://schemas.microsoft.com/office/powerpoint/2010/main" val="3037626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55600" y="655320"/>
            <a:ext cx="11643360" cy="5547360"/>
          </a:xfrm>
        </p:spPr>
        <p:txBody>
          <a:bodyPr>
            <a:normAutofit/>
          </a:bodyPr>
          <a:lstStyle/>
          <a:p>
            <a:pPr marL="0" indent="0">
              <a:buNone/>
            </a:pPr>
            <a:r>
              <a:rPr lang="en-US" b="1" baseline="30000" dirty="0"/>
              <a:t>53 </a:t>
            </a:r>
            <a:r>
              <a:rPr lang="en-US" dirty="0"/>
              <a:t>They took Jesus to the high priest; and all the chief priests, the elders, and the scribes were assembled. </a:t>
            </a:r>
            <a:r>
              <a:rPr lang="en-GB" b="1" i="1" baseline="30000" dirty="0">
                <a:solidFill>
                  <a:schemeClr val="accent2">
                    <a:lumMod val="50000"/>
                  </a:schemeClr>
                </a:solidFill>
              </a:rPr>
              <a:t>54 </a:t>
            </a:r>
            <a:r>
              <a:rPr lang="en-GB" i="1" dirty="0">
                <a:solidFill>
                  <a:schemeClr val="accent2">
                    <a:lumMod val="50000"/>
                  </a:schemeClr>
                </a:solidFill>
              </a:rPr>
              <a:t>Peter had followed him at a distance, right into the courtyard of the high priest; and he was sitting with the guards, warming himself at the fire. </a:t>
            </a:r>
            <a:r>
              <a:rPr lang="en-GB" b="1" i="1" baseline="30000" dirty="0">
                <a:solidFill>
                  <a:schemeClr val="accent2">
                    <a:lumMod val="50000"/>
                  </a:schemeClr>
                </a:solidFill>
              </a:rPr>
              <a:t>55 </a:t>
            </a:r>
            <a:r>
              <a:rPr lang="en-GB" i="1" dirty="0">
                <a:solidFill>
                  <a:schemeClr val="accent2">
                    <a:lumMod val="50000"/>
                  </a:schemeClr>
                </a:solidFill>
              </a:rPr>
              <a:t>Now the chief priests and the whole council were looking for testimony against Jesus to put him to death; but they found none. </a:t>
            </a:r>
            <a:r>
              <a:rPr lang="en-GB" b="1" i="1" baseline="30000" dirty="0">
                <a:solidFill>
                  <a:schemeClr val="accent2">
                    <a:lumMod val="50000"/>
                  </a:schemeClr>
                </a:solidFill>
              </a:rPr>
              <a:t>56 </a:t>
            </a:r>
            <a:r>
              <a:rPr lang="en-GB" i="1" dirty="0">
                <a:solidFill>
                  <a:schemeClr val="accent2">
                    <a:lumMod val="50000"/>
                  </a:schemeClr>
                </a:solidFill>
              </a:rPr>
              <a:t>For many gave false testimony against him, and their testimony did not agree. </a:t>
            </a:r>
            <a:endParaRPr lang="en-US" i="1" dirty="0">
              <a:solidFill>
                <a:schemeClr val="accent2">
                  <a:lumMod val="50000"/>
                </a:schemeClr>
              </a:solidFill>
            </a:endParaRPr>
          </a:p>
          <a:p>
            <a:pPr marL="0" indent="0">
              <a:buNone/>
            </a:pPr>
            <a:r>
              <a:rPr lang="en-US" b="1" baseline="30000" dirty="0"/>
              <a:t>57 </a:t>
            </a:r>
            <a:r>
              <a:rPr lang="en-US" dirty="0"/>
              <a:t>Some stood up and gave false testimony against him, saying, </a:t>
            </a:r>
            <a:r>
              <a:rPr lang="en-US" b="1" baseline="30000" dirty="0"/>
              <a:t>58 </a:t>
            </a:r>
            <a:r>
              <a:rPr lang="en-US" dirty="0"/>
              <a:t>“We heard him say, </a:t>
            </a:r>
            <a:r>
              <a:rPr lang="en-US" b="1" dirty="0">
                <a:solidFill>
                  <a:schemeClr val="accent6">
                    <a:lumMod val="75000"/>
                  </a:schemeClr>
                </a:solidFill>
              </a:rPr>
              <a:t>‘I will destroy this temple that is made with hands, and in three days I will build another, not made with hands.’” </a:t>
            </a:r>
            <a:r>
              <a:rPr lang="en-US" b="1" baseline="30000" dirty="0"/>
              <a:t>59 </a:t>
            </a:r>
            <a:r>
              <a:rPr lang="en-US" dirty="0"/>
              <a:t>But even on this point their testimony did not agree. </a:t>
            </a:r>
            <a:r>
              <a:rPr lang="en-US" b="1" baseline="30000" dirty="0"/>
              <a:t>60 </a:t>
            </a:r>
            <a:r>
              <a:rPr lang="en-US" dirty="0"/>
              <a:t>Then the high priest stood up before them and asked Jesus, “Have you no answer? What is it that they testify against you?” </a:t>
            </a:r>
            <a:r>
              <a:rPr lang="en-US" b="1" baseline="30000" dirty="0"/>
              <a:t>61 </a:t>
            </a:r>
            <a:r>
              <a:rPr lang="en-US" dirty="0"/>
              <a:t>But he was silent and did not answer. Again the high priest asked him, “Are you the Messiah, the Son of the Blessed One?” </a:t>
            </a:r>
            <a:r>
              <a:rPr lang="en-US" b="1" baseline="30000" dirty="0"/>
              <a:t>62 </a:t>
            </a:r>
            <a:r>
              <a:rPr lang="en-US" dirty="0"/>
              <a:t>Jesus said, </a:t>
            </a:r>
            <a:r>
              <a:rPr lang="en-US" dirty="0">
                <a:ln w="0"/>
                <a:solidFill>
                  <a:schemeClr val="accent3">
                    <a:lumMod val="75000"/>
                  </a:schemeClr>
                </a:solidFill>
                <a:effectLst>
                  <a:outerShdw blurRad="38100" dist="25400" dir="5400000" algn="ctr" rotWithShape="0">
                    <a:srgbClr val="6E747A">
                      <a:alpha val="43000"/>
                    </a:srgbClr>
                  </a:outerShdw>
                </a:effectLst>
              </a:rPr>
              <a:t>“I am; and</a:t>
            </a:r>
            <a:br>
              <a:rPr lang="en-US" dirty="0">
                <a:ln w="0"/>
                <a:solidFill>
                  <a:schemeClr val="accent3">
                    <a:lumMod val="75000"/>
                  </a:schemeClr>
                </a:solidFill>
                <a:effectLst>
                  <a:outerShdw blurRad="38100" dist="25400" dir="5400000" algn="ctr" rotWithShape="0">
                    <a:srgbClr val="6E747A">
                      <a:alpha val="43000"/>
                    </a:srgbClr>
                  </a:outerShdw>
                </a:effectLst>
              </a:rPr>
            </a:br>
            <a:r>
              <a:rPr lang="en-US" dirty="0">
                <a:ln w="0"/>
                <a:solidFill>
                  <a:schemeClr val="accent3">
                    <a:lumMod val="75000"/>
                  </a:schemeClr>
                </a:solidFill>
                <a:effectLst>
                  <a:outerShdw blurRad="38100" dist="25400" dir="5400000" algn="ctr" rotWithShape="0">
                    <a:srgbClr val="6E747A">
                      <a:alpha val="43000"/>
                    </a:srgbClr>
                  </a:outerShdw>
                </a:effectLst>
              </a:rPr>
              <a:t>‘you will see the Son of Man</a:t>
            </a:r>
            <a:br>
              <a:rPr lang="en-US" dirty="0">
                <a:ln w="0"/>
                <a:solidFill>
                  <a:schemeClr val="accent3">
                    <a:lumMod val="75000"/>
                  </a:schemeClr>
                </a:solidFill>
                <a:effectLst>
                  <a:outerShdw blurRad="38100" dist="25400" dir="5400000" algn="ctr" rotWithShape="0">
                    <a:srgbClr val="6E747A">
                      <a:alpha val="43000"/>
                    </a:srgbClr>
                  </a:outerShdw>
                </a:effectLst>
              </a:rPr>
            </a:br>
            <a:r>
              <a:rPr lang="en-US" dirty="0">
                <a:ln w="0"/>
                <a:solidFill>
                  <a:schemeClr val="accent3">
                    <a:lumMod val="75000"/>
                  </a:schemeClr>
                </a:solidFill>
                <a:effectLst>
                  <a:outerShdw blurRad="38100" dist="25400" dir="5400000" algn="ctr" rotWithShape="0">
                    <a:srgbClr val="6E747A">
                      <a:alpha val="43000"/>
                    </a:srgbClr>
                  </a:outerShdw>
                </a:effectLst>
              </a:rPr>
              <a:t>seated at the right hand of the Power,’</a:t>
            </a:r>
            <a:br>
              <a:rPr lang="en-US" dirty="0">
                <a:ln w="0"/>
                <a:solidFill>
                  <a:schemeClr val="accent3">
                    <a:lumMod val="75000"/>
                  </a:schemeClr>
                </a:solidFill>
                <a:effectLst>
                  <a:outerShdw blurRad="38100" dist="25400" dir="5400000" algn="ctr" rotWithShape="0">
                    <a:srgbClr val="6E747A">
                      <a:alpha val="43000"/>
                    </a:srgbClr>
                  </a:outerShdw>
                </a:effectLst>
              </a:rPr>
            </a:br>
            <a:r>
              <a:rPr lang="en-US" dirty="0">
                <a:ln w="0"/>
                <a:solidFill>
                  <a:schemeClr val="accent3">
                    <a:lumMod val="75000"/>
                  </a:schemeClr>
                </a:solidFill>
                <a:effectLst>
                  <a:outerShdw blurRad="38100" dist="25400" dir="5400000" algn="ctr" rotWithShape="0">
                    <a:srgbClr val="6E747A">
                      <a:alpha val="43000"/>
                    </a:srgbClr>
                  </a:outerShdw>
                </a:effectLst>
              </a:rPr>
              <a:t>and ‘coming with the clouds of heaven.’”</a:t>
            </a:r>
            <a:br>
              <a:rPr lang="en-US" dirty="0">
                <a:solidFill>
                  <a:schemeClr val="accent3"/>
                </a:solidFill>
              </a:rPr>
            </a:br>
            <a:r>
              <a:rPr lang="en-US" b="1" baseline="30000" dirty="0"/>
              <a:t>63 </a:t>
            </a:r>
            <a:r>
              <a:rPr lang="en-US" dirty="0"/>
              <a:t>Then the high priest tore his clothes and said, “Why do we still need witnesses? </a:t>
            </a:r>
            <a:r>
              <a:rPr lang="en-US" b="1" baseline="30000" dirty="0"/>
              <a:t>64 </a:t>
            </a:r>
            <a:r>
              <a:rPr lang="en-US" dirty="0"/>
              <a:t>You have heard his </a:t>
            </a:r>
            <a:r>
              <a:rPr lang="en-US" dirty="0">
                <a:solidFill>
                  <a:schemeClr val="accent1"/>
                </a:solidFill>
              </a:rPr>
              <a:t>blasphemy</a:t>
            </a:r>
            <a:r>
              <a:rPr lang="en-US" dirty="0"/>
              <a:t>! What is your decision?” All of them condemned him as deserving death. </a:t>
            </a:r>
            <a:r>
              <a:rPr lang="en-US" b="1" baseline="30000" dirty="0"/>
              <a:t>65 </a:t>
            </a:r>
            <a:r>
              <a:rPr lang="en-US" dirty="0"/>
              <a:t>Some began to spit on him, to blindfold him, and to strike him, saying to him, “Prophesy!” The guards also took him over and beat him.</a:t>
            </a:r>
          </a:p>
        </p:txBody>
      </p:sp>
    </p:spTree>
    <p:extLst>
      <p:ext uri="{BB962C8B-B14F-4D97-AF65-F5344CB8AC3E}">
        <p14:creationId xmlns:p14="http://schemas.microsoft.com/office/powerpoint/2010/main" val="3355233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F03A2E-B266-4817-B378-45B9DC3EC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5583720" y="681039"/>
            <a:ext cx="5770080" cy="1640521"/>
          </a:xfrm>
        </p:spPr>
        <p:txBody>
          <a:bodyPr>
            <a:normAutofit/>
          </a:bodyPr>
          <a:lstStyle/>
          <a:p>
            <a:r>
              <a:rPr lang="en-GB"/>
              <a:t>Pontius Pilate</a:t>
            </a:r>
          </a:p>
        </p:txBody>
      </p:sp>
      <p:pic>
        <p:nvPicPr>
          <p:cNvPr id="2"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16117" t="11881" r="52276" b="8301"/>
          <a:stretch/>
        </p:blipFill>
        <p:spPr bwMode="auto">
          <a:xfrm>
            <a:off x="992357" y="838200"/>
            <a:ext cx="2763439" cy="518160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7882FDDB-12BA-4531-A762-4803DABD6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idx="1"/>
          </p:nvPr>
        </p:nvSpPr>
        <p:spPr>
          <a:xfrm>
            <a:off x="5583720" y="2672370"/>
            <a:ext cx="5770079" cy="3504591"/>
          </a:xfrm>
        </p:spPr>
        <p:txBody>
          <a:bodyPr>
            <a:normAutofit/>
          </a:bodyPr>
          <a:lstStyle/>
          <a:p>
            <a:r>
              <a:rPr lang="en-GB"/>
              <a:t>Prefect of Judaea from 26-36 CE/AD </a:t>
            </a:r>
          </a:p>
          <a:p>
            <a:r>
              <a:rPr lang="en-GB"/>
              <a:t>Described by two contemporary historians as being cruel – he was eventually removed from office for being so barbaric </a:t>
            </a:r>
            <a:r>
              <a:rPr lang="en-GB" i="1"/>
              <a:t>(quite an achievement for a Roman!)</a:t>
            </a:r>
          </a:p>
          <a:p>
            <a:r>
              <a:rPr lang="en-GB"/>
              <a:t>As a representative of Rome he had the power to put people to death whereas the Sanhedrin would not</a:t>
            </a:r>
          </a:p>
          <a:p>
            <a:r>
              <a:rPr lang="en-GB"/>
              <a:t>Pilate would not have been moved by the religious charge of ‘blasphemy’ – </a:t>
            </a:r>
            <a:r>
              <a:rPr lang="en-GB" b="1">
                <a:effectLst>
                  <a:outerShdw blurRad="38100" dist="38100" dir="2700000" algn="tl">
                    <a:srgbClr val="000000">
                      <a:alpha val="43137"/>
                    </a:srgbClr>
                  </a:outerShdw>
                </a:effectLst>
              </a:rPr>
              <a:t>can you think why he might have been swayed to put Jesus to death?</a:t>
            </a:r>
          </a:p>
        </p:txBody>
      </p:sp>
    </p:spTree>
    <p:extLst>
      <p:ext uri="{BB962C8B-B14F-4D97-AF65-F5344CB8AC3E}">
        <p14:creationId xmlns:p14="http://schemas.microsoft.com/office/powerpoint/2010/main" val="134348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90E769E-6D91-1A4B-8E84-7AFFAF958C05}"/>
              </a:ext>
            </a:extLst>
          </p:cNvPr>
          <p:cNvSpPr>
            <a:spLocks noGrp="1"/>
          </p:cNvSpPr>
          <p:nvPr>
            <p:ph type="body" idx="1"/>
          </p:nvPr>
        </p:nvSpPr>
        <p:spPr>
          <a:xfrm>
            <a:off x="780584" y="497841"/>
            <a:ext cx="8089096" cy="1142424"/>
          </a:xfrm>
        </p:spPr>
        <p:txBody>
          <a:bodyPr>
            <a:normAutofit/>
          </a:bodyPr>
          <a:lstStyle/>
          <a:p>
            <a:r>
              <a:rPr lang="en-GB" sz="3200" dirty="0">
                <a:solidFill>
                  <a:schemeClr val="tx1"/>
                </a:solidFill>
              </a:rPr>
              <a:t>Philo of Alexandria on Pilate</a:t>
            </a:r>
          </a:p>
        </p:txBody>
      </p:sp>
      <p:sp>
        <p:nvSpPr>
          <p:cNvPr id="9" name="Content Placeholder 8">
            <a:extLst>
              <a:ext uri="{FF2B5EF4-FFF2-40B4-BE49-F238E27FC236}">
                <a16:creationId xmlns:a16="http://schemas.microsoft.com/office/drawing/2014/main" id="{DD7C8021-4886-D840-B14E-A76DF5347781}"/>
              </a:ext>
            </a:extLst>
          </p:cNvPr>
          <p:cNvSpPr>
            <a:spLocks noGrp="1"/>
          </p:cNvSpPr>
          <p:nvPr>
            <p:ph sz="half" idx="2"/>
          </p:nvPr>
        </p:nvSpPr>
        <p:spPr>
          <a:xfrm>
            <a:off x="780584" y="2001519"/>
            <a:ext cx="10385256" cy="4444073"/>
          </a:xfrm>
        </p:spPr>
        <p:txBody>
          <a:bodyPr>
            <a:noAutofit/>
          </a:bodyPr>
          <a:lstStyle/>
          <a:p>
            <a:pPr marL="0" indent="0">
              <a:buNone/>
            </a:pPr>
            <a:r>
              <a:rPr lang="en-GB" dirty="0"/>
              <a:t>When Pilate, who was </a:t>
            </a:r>
            <a:r>
              <a:rPr lang="en-GB" b="1" dirty="0">
                <a:solidFill>
                  <a:schemeClr val="accent2">
                    <a:lumMod val="75000"/>
                  </a:schemeClr>
                </a:solidFill>
              </a:rPr>
              <a:t>a man of inflexible, stubborn and cruel disposition,</a:t>
            </a:r>
            <a:r>
              <a:rPr lang="en-GB" dirty="0">
                <a:solidFill>
                  <a:schemeClr val="accent2">
                    <a:lumMod val="75000"/>
                  </a:schemeClr>
                </a:solidFill>
              </a:rPr>
              <a:t> </a:t>
            </a:r>
            <a:r>
              <a:rPr lang="en-GB" dirty="0"/>
              <a:t>obstinately refused, they shouted: "Do not cause a revolt! Do not cause a war! Do not break the peace! Disrespect done to our ancient laws brings no </a:t>
            </a:r>
            <a:r>
              <a:rPr lang="en-GB" dirty="0" err="1"/>
              <a:t>honor</a:t>
            </a:r>
            <a:r>
              <a:rPr lang="en-GB" dirty="0"/>
              <a:t> to the emperor. Do not make Tiberius an excuse for insulting our nation. He does not want any of our traditions done away with. If you say that he does, show us some decree or letter or something of the sort, so that we may cease troubling you and appeal to our master by means of an embassy."</a:t>
            </a:r>
            <a:br>
              <a:rPr lang="en-GB" dirty="0"/>
            </a:br>
            <a:r>
              <a:rPr lang="en-GB" dirty="0"/>
              <a:t>This last remark exasperated Pilate most of all, for </a:t>
            </a:r>
            <a:r>
              <a:rPr lang="en-GB" b="1" dirty="0"/>
              <a:t>he was afraid that if they really sent an embassy, they would bring accusations</a:t>
            </a:r>
            <a:r>
              <a:rPr lang="en-GB" dirty="0"/>
              <a:t> against the rest of his administration as well, </a:t>
            </a:r>
            <a:r>
              <a:rPr lang="en-GB" b="1" dirty="0"/>
              <a:t>specifying in detail </a:t>
            </a:r>
            <a:r>
              <a:rPr lang="en-GB" dirty="0"/>
              <a:t>his venality, </a:t>
            </a:r>
            <a:r>
              <a:rPr lang="en-GB" b="1" dirty="0">
                <a:solidFill>
                  <a:schemeClr val="accent6">
                    <a:lumMod val="75000"/>
                  </a:schemeClr>
                </a:solidFill>
              </a:rPr>
              <a:t>his violence, his thefts, his assaults, his abusive behaviour, his frequent executions of untried prisoners, and his endless savage ferocity</a:t>
            </a:r>
            <a:r>
              <a:rPr lang="en-GB" dirty="0"/>
              <a:t>.</a:t>
            </a:r>
            <a:br>
              <a:rPr lang="en-GB" dirty="0"/>
            </a:br>
            <a:r>
              <a:rPr lang="en-GB" dirty="0"/>
              <a:t>So, as </a:t>
            </a:r>
            <a:r>
              <a:rPr lang="en-GB" b="1" dirty="0">
                <a:solidFill>
                  <a:schemeClr val="accent2">
                    <a:lumMod val="75000"/>
                  </a:schemeClr>
                </a:solidFill>
              </a:rPr>
              <a:t>he was a spiteful and angry person</a:t>
            </a:r>
            <a:r>
              <a:rPr lang="en-GB" dirty="0"/>
              <a:t>, he was in a serious dilemma; for he had neither the courage to remove what he had once set up, nor the desire to do anything which would please his subjects, but at the same time he was well aware of Tiberius' firmness on these matters.</a:t>
            </a:r>
          </a:p>
        </p:txBody>
      </p:sp>
    </p:spTree>
    <p:extLst>
      <p:ext uri="{BB962C8B-B14F-4D97-AF65-F5344CB8AC3E}">
        <p14:creationId xmlns:p14="http://schemas.microsoft.com/office/powerpoint/2010/main" val="1291554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5798" y="304800"/>
            <a:ext cx="11168842" cy="5831840"/>
          </a:xfrm>
        </p:spPr>
        <p:txBody>
          <a:bodyPr>
            <a:normAutofit/>
          </a:bodyPr>
          <a:lstStyle/>
          <a:p>
            <a:pPr marL="0" indent="0">
              <a:buNone/>
            </a:pPr>
            <a:r>
              <a:rPr lang="en-US" b="1" dirty="0"/>
              <a:t>15 </a:t>
            </a:r>
            <a:r>
              <a:rPr lang="en-US" dirty="0"/>
              <a:t>As soon as it was morning, the chief priests held a consultation with the elders and scribes and the whole council. They bound Jesus, led him away, and handed him over to Pilate. </a:t>
            </a:r>
            <a:r>
              <a:rPr lang="en-US" b="1" baseline="30000" dirty="0"/>
              <a:t>2 </a:t>
            </a:r>
            <a:r>
              <a:rPr lang="en-US" dirty="0"/>
              <a:t>Pilate asked him, “Are you the King of the Jews?” He answered him, “You say so.” </a:t>
            </a:r>
            <a:r>
              <a:rPr lang="en-US" b="1" baseline="30000" dirty="0"/>
              <a:t>3 </a:t>
            </a:r>
            <a:r>
              <a:rPr lang="en-US" dirty="0"/>
              <a:t>Then the chief priests accused him of many things. </a:t>
            </a:r>
            <a:r>
              <a:rPr lang="en-US" b="1" baseline="30000" dirty="0"/>
              <a:t>4 </a:t>
            </a:r>
            <a:r>
              <a:rPr lang="en-US" dirty="0"/>
              <a:t>Pilate asked him again, “Have you no answer? See how many charges they bring against you.” </a:t>
            </a:r>
            <a:r>
              <a:rPr lang="en-US" b="1" baseline="30000" dirty="0"/>
              <a:t>5 </a:t>
            </a:r>
            <a:r>
              <a:rPr lang="en-US" dirty="0"/>
              <a:t>But Jesus made no further reply, so that Pilate was amazed.</a:t>
            </a:r>
            <a:br>
              <a:rPr lang="en-US" dirty="0"/>
            </a:br>
            <a:br>
              <a:rPr lang="en-US" dirty="0"/>
            </a:br>
            <a:r>
              <a:rPr lang="en-US" b="1" baseline="30000" dirty="0"/>
              <a:t>6 </a:t>
            </a:r>
            <a:r>
              <a:rPr lang="en-US" dirty="0"/>
              <a:t>Now at the festival he used to release a prisoner for them, anyone for whom they asked. </a:t>
            </a:r>
            <a:r>
              <a:rPr lang="en-US" b="1" baseline="30000" dirty="0"/>
              <a:t>7 </a:t>
            </a:r>
            <a:r>
              <a:rPr lang="en-US" dirty="0"/>
              <a:t>Now a man called </a:t>
            </a:r>
            <a:r>
              <a:rPr lang="en-US" b="1" dirty="0">
                <a:solidFill>
                  <a:schemeClr val="accent6"/>
                </a:solidFill>
              </a:rPr>
              <a:t>Barabbas</a:t>
            </a:r>
            <a:r>
              <a:rPr lang="en-US" dirty="0"/>
              <a:t> was </a:t>
            </a:r>
            <a:r>
              <a:rPr lang="en-US" dirty="0">
                <a:solidFill>
                  <a:schemeClr val="accent6"/>
                </a:solidFill>
              </a:rPr>
              <a:t>in prison with the rebels who had committed murder during the insurrection</a:t>
            </a:r>
            <a:r>
              <a:rPr lang="en-US" dirty="0"/>
              <a:t>. </a:t>
            </a:r>
            <a:r>
              <a:rPr lang="en-US" b="1" baseline="30000" dirty="0"/>
              <a:t>8 </a:t>
            </a:r>
            <a:r>
              <a:rPr lang="en-US" dirty="0"/>
              <a:t>So the crowd came and began to ask Pilate to do for them according to his custom. </a:t>
            </a:r>
            <a:r>
              <a:rPr lang="en-US" b="1" baseline="30000" dirty="0"/>
              <a:t>9 </a:t>
            </a:r>
            <a:r>
              <a:rPr lang="en-US" dirty="0"/>
              <a:t>Then he answered them, “Do you want me to release for you the King of the Jews?” </a:t>
            </a:r>
            <a:r>
              <a:rPr lang="en-US" b="1" baseline="30000" dirty="0"/>
              <a:t>10 </a:t>
            </a:r>
            <a:r>
              <a:rPr lang="en-US" dirty="0"/>
              <a:t>For he realized that it was out of jealousy that the chief priests had handed him over. </a:t>
            </a:r>
            <a:r>
              <a:rPr lang="en-US" b="1" baseline="30000" dirty="0"/>
              <a:t>11 </a:t>
            </a:r>
            <a:r>
              <a:rPr lang="en-US" dirty="0"/>
              <a:t>But the chief priests stirred up the crowd to have him release Barabbas for them instead. </a:t>
            </a:r>
            <a:r>
              <a:rPr lang="en-US" b="1" baseline="30000" dirty="0"/>
              <a:t>12 </a:t>
            </a:r>
            <a:r>
              <a:rPr lang="en-US" dirty="0"/>
              <a:t>Pilate spoke to them again, “Then what do you wish me to do</a:t>
            </a:r>
            <a:r>
              <a:rPr lang="en-US" baseline="30000" dirty="0"/>
              <a:t> </a:t>
            </a:r>
            <a:r>
              <a:rPr lang="en-US" dirty="0"/>
              <a:t>with the man you call the King of the Jews?” </a:t>
            </a:r>
            <a:r>
              <a:rPr lang="en-US" b="1" baseline="30000" dirty="0"/>
              <a:t>13 </a:t>
            </a:r>
            <a:r>
              <a:rPr lang="en-US" dirty="0"/>
              <a:t>They shouted back, “Crucify him!” </a:t>
            </a:r>
            <a:r>
              <a:rPr lang="en-US" b="1" baseline="30000" dirty="0"/>
              <a:t>14 </a:t>
            </a:r>
            <a:r>
              <a:rPr lang="en-US" dirty="0"/>
              <a:t>Pilate asked them, “Why, what evil has he done?” But they shouted all the more, “Crucify him!” </a:t>
            </a:r>
            <a:r>
              <a:rPr lang="en-US" b="1" baseline="30000" dirty="0"/>
              <a:t>15 </a:t>
            </a:r>
            <a:r>
              <a:rPr lang="en-US" dirty="0"/>
              <a:t>So Pilate, wishing to satisfy the crowd, released Barabbas for them; and after </a:t>
            </a:r>
            <a:r>
              <a:rPr lang="en-US" b="1" dirty="0">
                <a:solidFill>
                  <a:schemeClr val="accent1"/>
                </a:solidFill>
              </a:rPr>
              <a:t>flogging</a:t>
            </a:r>
            <a:r>
              <a:rPr lang="en-US" dirty="0">
                <a:solidFill>
                  <a:schemeClr val="accent1"/>
                </a:solidFill>
              </a:rPr>
              <a:t>*</a:t>
            </a:r>
            <a:r>
              <a:rPr lang="en-US" dirty="0"/>
              <a:t> Jesus, he handed him over to be crucified.</a:t>
            </a:r>
          </a:p>
          <a:p>
            <a:endParaRPr lang="en-GB" dirty="0"/>
          </a:p>
        </p:txBody>
      </p:sp>
      <p:sp>
        <p:nvSpPr>
          <p:cNvPr id="6" name="TextBox 5"/>
          <p:cNvSpPr txBox="1"/>
          <p:nvPr/>
        </p:nvSpPr>
        <p:spPr>
          <a:xfrm>
            <a:off x="7680960" y="5259645"/>
            <a:ext cx="4358640" cy="138499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accent1"/>
                </a:solidFill>
              </a:rPr>
              <a:t>Flogging </a:t>
            </a:r>
            <a:r>
              <a:rPr lang="en-US" sz="1400" dirty="0">
                <a:solidFill>
                  <a:schemeClr val="tx2"/>
                </a:solidFill>
              </a:rPr>
              <a:t>– an extremely cruel method of punishment involving beating, typically with a whip or rod. There was no limit on the number of lashes that could be given and in some cases the flogging was so severe the prisoner died before they could be crucified. It may have been intended to shorten the time the criminal spent on the cross.</a:t>
            </a:r>
            <a:endParaRPr lang="en-GB" sz="1400" dirty="0"/>
          </a:p>
        </p:txBody>
      </p:sp>
    </p:spTree>
    <p:extLst>
      <p:ext uri="{BB962C8B-B14F-4D97-AF65-F5344CB8AC3E}">
        <p14:creationId xmlns:p14="http://schemas.microsoft.com/office/powerpoint/2010/main" val="3034000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262ABC4B-37D8-4218-BDD8-6DF6A00C0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30" name="Picture 6" descr="The Crown of Thorns - livingwithfaith.org">
            <a:extLst>
              <a:ext uri="{FF2B5EF4-FFF2-40B4-BE49-F238E27FC236}">
                <a16:creationId xmlns:a16="http://schemas.microsoft.com/office/drawing/2014/main" id="{5910D7EA-A1F5-6F62-DBD6-F52672A4F8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37" r="-2" b="16904"/>
          <a:stretch/>
        </p:blipFill>
        <p:spPr bwMode="auto">
          <a:xfrm>
            <a:off x="321730" y="321732"/>
            <a:ext cx="5674897" cy="30174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o photo description available.">
            <a:extLst>
              <a:ext uri="{FF2B5EF4-FFF2-40B4-BE49-F238E27FC236}">
                <a16:creationId xmlns:a16="http://schemas.microsoft.com/office/drawing/2014/main" id="{DC104C2A-2D3F-6E63-0E6E-6CAE9DF444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19732"/>
          <a:stretch/>
        </p:blipFill>
        <p:spPr bwMode="auto">
          <a:xfrm>
            <a:off x="321730" y="3510853"/>
            <a:ext cx="5674897" cy="278995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eel Bone From Italy Is Only Second Example of Crucifixion Ever Found">
            <a:extLst>
              <a:ext uri="{FF2B5EF4-FFF2-40B4-BE49-F238E27FC236}">
                <a16:creationId xmlns:a16="http://schemas.microsoft.com/office/drawing/2014/main" id="{DCC04BA9-6DD4-5479-ED28-24BBF0EE2E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9127"/>
          <a:stretch/>
        </p:blipFill>
        <p:spPr bwMode="auto">
          <a:xfrm>
            <a:off x="6195373" y="321733"/>
            <a:ext cx="5674897" cy="5979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85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31AAE0-47B1-EA22-2793-1AB699F0E6D2}"/>
              </a:ext>
            </a:extLst>
          </p:cNvPr>
          <p:cNvPicPr>
            <a:picLocks noChangeAspect="1"/>
          </p:cNvPicPr>
          <p:nvPr/>
        </p:nvPicPr>
        <p:blipFill rotWithShape="1">
          <a:blip r:embed="rId2">
            <a:alphaModFix amt="20000"/>
            <a:extLst>
              <a:ext uri="{28A0092B-C50C-407E-A947-70E740481C1C}">
                <a14:useLocalDpi xmlns:a14="http://schemas.microsoft.com/office/drawing/2010/main" val="0"/>
              </a:ext>
            </a:extLst>
          </a:blip>
          <a:srcRect/>
          <a:stretch/>
        </p:blipFill>
        <p:spPr>
          <a:xfrm>
            <a:off x="0" y="0"/>
            <a:ext cx="12191980" cy="6857990"/>
          </a:xfrm>
          <a:prstGeom prst="rect">
            <a:avLst/>
          </a:prstGeom>
        </p:spPr>
      </p:pic>
      <p:sp>
        <p:nvSpPr>
          <p:cNvPr id="4" name="Title 3"/>
          <p:cNvSpPr>
            <a:spLocks noGrp="1"/>
          </p:cNvSpPr>
          <p:nvPr>
            <p:ph type="title"/>
          </p:nvPr>
        </p:nvSpPr>
        <p:spPr>
          <a:xfrm>
            <a:off x="4462252" y="598932"/>
            <a:ext cx="7729728" cy="1188720"/>
          </a:xfrm>
          <a:solidFill>
            <a:schemeClr val="bg1">
              <a:alpha val="30000"/>
            </a:schemeClr>
          </a:solidFill>
          <a:ln>
            <a:solidFill>
              <a:srgbClr val="FFFFFF"/>
            </a:solidFill>
          </a:ln>
        </p:spPr>
        <p:txBody>
          <a:bodyPr vert="horz" lIns="182880" tIns="182880" rIns="182880" bIns="182880" rtlCol="0" anchor="ctr">
            <a:normAutofit/>
          </a:bodyPr>
          <a:lstStyle/>
          <a:p>
            <a:r>
              <a:rPr lang="en-US" dirty="0">
                <a:solidFill>
                  <a:schemeClr val="tx1"/>
                </a:solidFill>
              </a:rPr>
              <a:t>Jesus’ crucifixion</a:t>
            </a:r>
          </a:p>
        </p:txBody>
      </p:sp>
      <p:sp>
        <p:nvSpPr>
          <p:cNvPr id="5" name="Content Placeholder 4"/>
          <p:cNvSpPr>
            <a:spLocks noGrp="1"/>
          </p:cNvSpPr>
          <p:nvPr>
            <p:ph sz="half" idx="1"/>
          </p:nvPr>
        </p:nvSpPr>
        <p:spPr>
          <a:xfrm>
            <a:off x="1330960" y="2722880"/>
            <a:ext cx="9865360" cy="3391467"/>
          </a:xfrm>
          <a:noFill/>
          <a:ln>
            <a:noFill/>
          </a:ln>
        </p:spPr>
        <p:style>
          <a:lnRef idx="0">
            <a:scrgbClr r="0" g="0" b="0"/>
          </a:lnRef>
          <a:fillRef idx="0">
            <a:scrgbClr r="0" g="0" b="0"/>
          </a:fillRef>
          <a:effectRef idx="0">
            <a:scrgbClr r="0" g="0" b="0"/>
          </a:effectRef>
          <a:fontRef idx="minor">
            <a:schemeClr val="dk1"/>
          </a:fontRef>
        </p:style>
        <p:txBody>
          <a:bodyPr vert="horz" lIns="91440" tIns="45720" rIns="91440" bIns="45720" rtlCol="0">
            <a:normAutofit/>
          </a:bodyPr>
          <a:lstStyle/>
          <a:p>
            <a:pPr marL="0" indent="0">
              <a:lnSpc>
                <a:spcPct val="90000"/>
              </a:lnSpc>
              <a:buNone/>
            </a:pPr>
            <a:r>
              <a:rPr lang="en-US" sz="2400" b="1" baseline="30000" dirty="0"/>
              <a:t>25 </a:t>
            </a:r>
            <a:r>
              <a:rPr lang="en-US" sz="2400" dirty="0"/>
              <a:t>It was </a:t>
            </a:r>
            <a:r>
              <a:rPr lang="en-US" sz="2400" dirty="0">
                <a:solidFill>
                  <a:schemeClr val="accent6">
                    <a:lumMod val="75000"/>
                  </a:schemeClr>
                </a:solidFill>
              </a:rPr>
              <a:t>nine o’clock </a:t>
            </a:r>
            <a:r>
              <a:rPr lang="en-US" sz="2400" dirty="0"/>
              <a:t>in the morning when they crucified him. </a:t>
            </a:r>
            <a:r>
              <a:rPr lang="en-US" sz="2400" b="1" baseline="30000" dirty="0"/>
              <a:t>26 </a:t>
            </a:r>
            <a:r>
              <a:rPr lang="en-US" sz="2400" b="1" dirty="0"/>
              <a:t>The inscription of the charge against him </a:t>
            </a:r>
            <a:r>
              <a:rPr lang="en-US" sz="2400" dirty="0"/>
              <a:t>read, “The King of the Jews.” </a:t>
            </a:r>
            <a:r>
              <a:rPr lang="en-US" sz="2400" b="1" baseline="30000" dirty="0"/>
              <a:t>27 </a:t>
            </a:r>
            <a:r>
              <a:rPr lang="en-US" sz="2400" dirty="0"/>
              <a:t>And with him they crucified two bandits, one on his right and one on his left. </a:t>
            </a:r>
            <a:r>
              <a:rPr lang="en-US" sz="2400" b="1" baseline="30000" dirty="0"/>
              <a:t>29 </a:t>
            </a:r>
            <a:r>
              <a:rPr lang="en-US" sz="2400" dirty="0"/>
              <a:t>Those who passed by derided him, shaking their heads and saying, “Aha! You who would destroy the temple and build it in three days, </a:t>
            </a:r>
            <a:r>
              <a:rPr lang="en-US" sz="2400" b="1" baseline="30000" dirty="0"/>
              <a:t>30 </a:t>
            </a:r>
            <a:r>
              <a:rPr lang="en-US" sz="2400" dirty="0"/>
              <a:t>save yourself, and come down from the cross!” </a:t>
            </a:r>
            <a:r>
              <a:rPr lang="en-US" sz="2400" b="1" baseline="30000" dirty="0"/>
              <a:t>31 </a:t>
            </a:r>
            <a:r>
              <a:rPr lang="en-US" sz="2400" dirty="0"/>
              <a:t>In the same way the chief priests, along with the scribes, were also </a:t>
            </a:r>
            <a:r>
              <a:rPr lang="en-US" sz="2400" b="1" dirty="0"/>
              <a:t>mocking him </a:t>
            </a:r>
            <a:r>
              <a:rPr lang="en-US" sz="2400" dirty="0"/>
              <a:t>among themselves and saying, “He saved others; he cannot save himself. </a:t>
            </a:r>
            <a:r>
              <a:rPr lang="en-US" sz="2400" b="1" baseline="30000" dirty="0"/>
              <a:t>32 </a:t>
            </a:r>
            <a:r>
              <a:rPr lang="en-US" sz="2400" dirty="0"/>
              <a:t>Let the Messiah, the King of Israel, come down from the cross now, so that we may see and believe.” Those who were crucified with him also taunted him.</a:t>
            </a:r>
          </a:p>
        </p:txBody>
      </p:sp>
    </p:spTree>
    <p:extLst>
      <p:ext uri="{BB962C8B-B14F-4D97-AF65-F5344CB8AC3E}">
        <p14:creationId xmlns:p14="http://schemas.microsoft.com/office/powerpoint/2010/main" val="671599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832" y="239550"/>
            <a:ext cx="10515600" cy="1116811"/>
          </a:xfrm>
        </p:spPr>
        <p:txBody>
          <a:bodyPr/>
          <a:lstStyle/>
          <a:p>
            <a:r>
              <a:rPr lang="en-GB" dirty="0"/>
              <a:t>The death of Jesus</a:t>
            </a:r>
          </a:p>
        </p:txBody>
      </p:sp>
      <p:sp>
        <p:nvSpPr>
          <p:cNvPr id="3" name="Content Placeholder 2"/>
          <p:cNvSpPr>
            <a:spLocks noGrp="1"/>
          </p:cNvSpPr>
          <p:nvPr>
            <p:ph idx="1"/>
          </p:nvPr>
        </p:nvSpPr>
        <p:spPr>
          <a:xfrm>
            <a:off x="841216" y="1506406"/>
            <a:ext cx="10663952" cy="4969804"/>
          </a:xfrm>
        </p:spPr>
        <p:txBody>
          <a:bodyPr>
            <a:noAutofit/>
          </a:bodyPr>
          <a:lstStyle/>
          <a:p>
            <a:pPr marL="0" indent="0">
              <a:buNone/>
            </a:pPr>
            <a:r>
              <a:rPr lang="en-US" sz="2200" b="1" baseline="30000" dirty="0"/>
              <a:t>33 </a:t>
            </a:r>
            <a:r>
              <a:rPr lang="en-US" sz="2200" dirty="0"/>
              <a:t>When it was noon, darkness came over the whole land until three in the afternoon. </a:t>
            </a:r>
            <a:r>
              <a:rPr lang="en-US" sz="2200" b="1" baseline="30000" dirty="0"/>
              <a:t>34 </a:t>
            </a:r>
            <a:r>
              <a:rPr lang="en-US" sz="2200" dirty="0"/>
              <a:t>At </a:t>
            </a:r>
            <a:r>
              <a:rPr lang="en-US" sz="2200" dirty="0">
                <a:solidFill>
                  <a:schemeClr val="accent6">
                    <a:lumMod val="75000"/>
                  </a:schemeClr>
                </a:solidFill>
              </a:rPr>
              <a:t>three o’clock </a:t>
            </a:r>
            <a:r>
              <a:rPr lang="en-US" sz="2200" dirty="0"/>
              <a:t>Jesus cried out with a loud voice, “</a:t>
            </a:r>
            <a:r>
              <a:rPr lang="en-US" sz="2200" b="1" dirty="0">
                <a:solidFill>
                  <a:schemeClr val="accent3"/>
                </a:solidFill>
              </a:rPr>
              <a:t>Eloi, Eloi, </a:t>
            </a:r>
            <a:r>
              <a:rPr lang="en-US" sz="2200" b="1" dirty="0" err="1">
                <a:solidFill>
                  <a:schemeClr val="accent3"/>
                </a:solidFill>
              </a:rPr>
              <a:t>lema</a:t>
            </a:r>
            <a:r>
              <a:rPr lang="en-US" sz="2200" b="1" dirty="0">
                <a:solidFill>
                  <a:schemeClr val="accent3"/>
                </a:solidFill>
              </a:rPr>
              <a:t> </a:t>
            </a:r>
            <a:r>
              <a:rPr lang="en-US" sz="2200" b="1" dirty="0" err="1">
                <a:solidFill>
                  <a:schemeClr val="accent3"/>
                </a:solidFill>
              </a:rPr>
              <a:t>sabachthani</a:t>
            </a:r>
            <a:r>
              <a:rPr lang="en-US" sz="2200" b="1" dirty="0">
                <a:solidFill>
                  <a:schemeClr val="accent3"/>
                </a:solidFill>
              </a:rPr>
              <a:t>?</a:t>
            </a:r>
            <a:r>
              <a:rPr lang="en-US" sz="2200" dirty="0"/>
              <a:t>” which means, “My God, my God, why have you forsaken me?” </a:t>
            </a:r>
            <a:r>
              <a:rPr lang="en-US" sz="2200" b="1" baseline="30000" dirty="0"/>
              <a:t>35 </a:t>
            </a:r>
            <a:r>
              <a:rPr lang="en-US" sz="2200" dirty="0"/>
              <a:t>When some of the bystanders heard it, they said, “Listen, he is calling for Elijah.” </a:t>
            </a:r>
            <a:r>
              <a:rPr lang="en-US" sz="2200" b="1" baseline="30000" dirty="0"/>
              <a:t>36 </a:t>
            </a:r>
            <a:r>
              <a:rPr lang="en-US" sz="2200" dirty="0"/>
              <a:t>And someone ran, </a:t>
            </a:r>
            <a:r>
              <a:rPr lang="en-US" sz="2200" b="1" dirty="0">
                <a:solidFill>
                  <a:schemeClr val="accent2"/>
                </a:solidFill>
              </a:rPr>
              <a:t>filled a sponge with sour wine</a:t>
            </a:r>
            <a:r>
              <a:rPr lang="en-US" sz="2200" dirty="0"/>
              <a:t>, put it on a stick, </a:t>
            </a:r>
            <a:r>
              <a:rPr lang="en-US" sz="2200" b="1" dirty="0"/>
              <a:t>and gave it to him to drink</a:t>
            </a:r>
            <a:r>
              <a:rPr lang="en-US" sz="2200" dirty="0"/>
              <a:t>, saying, “Wait, let us see whether Elijah will come to take him down.” </a:t>
            </a:r>
            <a:r>
              <a:rPr lang="en-US" sz="2200" b="1" baseline="30000" dirty="0"/>
              <a:t>37 </a:t>
            </a:r>
            <a:r>
              <a:rPr lang="en-US" sz="2200" b="1" dirty="0">
                <a:solidFill>
                  <a:schemeClr val="accent2"/>
                </a:solidFill>
              </a:rPr>
              <a:t>Then Jesus gave a loud cry and breathed his last. </a:t>
            </a:r>
            <a:r>
              <a:rPr lang="en-US" sz="2200" b="1" baseline="30000" dirty="0"/>
              <a:t>38 </a:t>
            </a:r>
            <a:r>
              <a:rPr lang="en-US" sz="2200" b="1" u="sng" dirty="0"/>
              <a:t>And the curtain of the temple was torn in two, from top to bottom.</a:t>
            </a:r>
            <a:r>
              <a:rPr lang="en-US" sz="2200" dirty="0"/>
              <a:t> </a:t>
            </a:r>
            <a:r>
              <a:rPr lang="en-US" sz="2200" b="1" baseline="30000" dirty="0"/>
              <a:t>39 </a:t>
            </a:r>
            <a:r>
              <a:rPr lang="en-US" sz="2200" dirty="0"/>
              <a:t>Now when the centurion, who stood facing him, saw that in this way he breathed his last, he said, “</a:t>
            </a:r>
            <a:r>
              <a:rPr lang="en-US" sz="2200" dirty="0">
                <a:solidFill>
                  <a:schemeClr val="accent3"/>
                </a:solidFill>
                <a:effectLst>
                  <a:outerShdw blurRad="38100" dist="38100" dir="2700000" algn="tl">
                    <a:srgbClr val="000000">
                      <a:alpha val="43137"/>
                    </a:srgbClr>
                  </a:outerShdw>
                </a:effectLst>
              </a:rPr>
              <a:t>Truly this man was God’s Son!</a:t>
            </a:r>
            <a:r>
              <a:rPr lang="en-US" sz="2200" dirty="0"/>
              <a:t>”</a:t>
            </a:r>
          </a:p>
          <a:p>
            <a:pPr marL="0" indent="0">
              <a:buNone/>
            </a:pPr>
            <a:r>
              <a:rPr lang="en-US" sz="2200" b="1" baseline="30000" dirty="0"/>
              <a:t>40 </a:t>
            </a:r>
            <a:r>
              <a:rPr lang="en-US" sz="2200" dirty="0"/>
              <a:t>There were also women looking on from a distance; among them were Mary Magdalene, and Mary the mother of James the younger and of </a:t>
            </a:r>
            <a:r>
              <a:rPr lang="en-US" sz="2200" dirty="0" err="1"/>
              <a:t>Joses</a:t>
            </a:r>
            <a:r>
              <a:rPr lang="en-US" sz="2200" dirty="0"/>
              <a:t>, and Salome. </a:t>
            </a:r>
            <a:r>
              <a:rPr lang="en-US" sz="2200" b="1" baseline="30000" dirty="0"/>
              <a:t>41 </a:t>
            </a:r>
            <a:r>
              <a:rPr lang="en-US" sz="2200" dirty="0"/>
              <a:t>These used to follow him and provided for him when he was in Galilee; and there were many other women who had come up with him to Jerusalem.</a:t>
            </a:r>
          </a:p>
        </p:txBody>
      </p:sp>
    </p:spTree>
    <p:extLst>
      <p:ext uri="{BB962C8B-B14F-4D97-AF65-F5344CB8AC3E}">
        <p14:creationId xmlns:p14="http://schemas.microsoft.com/office/powerpoint/2010/main" val="2313366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flowchart to explain the Christian concept of salvation through Jesus.">
            <a:extLst>
              <a:ext uri="{FF2B5EF4-FFF2-40B4-BE49-F238E27FC236}">
                <a16:creationId xmlns:a16="http://schemas.microsoft.com/office/drawing/2014/main" id="{967F8F0E-FE43-FFAD-F678-568040FC75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960" y="1028700"/>
            <a:ext cx="4800600" cy="4800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1AB6F3-47CC-A4C9-6D58-123560AA44C1}"/>
              </a:ext>
            </a:extLst>
          </p:cNvPr>
          <p:cNvSpPr txBox="1"/>
          <p:nvPr/>
        </p:nvSpPr>
        <p:spPr>
          <a:xfrm>
            <a:off x="6492240" y="1382286"/>
            <a:ext cx="4998720" cy="4093428"/>
          </a:xfrm>
          <a:prstGeom prst="rect">
            <a:avLst/>
          </a:prstGeom>
          <a:noFill/>
        </p:spPr>
        <p:txBody>
          <a:bodyPr wrap="square">
            <a:spAutoFit/>
          </a:bodyPr>
          <a:lstStyle/>
          <a:p>
            <a:pPr marL="342900" indent="-342900">
              <a:buFont typeface="Arial" panose="020B0604020202020204" pitchFamily="34" charset="0"/>
              <a:buChar char="•"/>
            </a:pPr>
            <a:r>
              <a:rPr lang="en-US" sz="2000" dirty="0"/>
              <a:t>The idea of a sacrifice of one person making up for other people’s sins might be quite unfamiliar in the modern world</a:t>
            </a:r>
          </a:p>
          <a:p>
            <a:pPr marL="342900" indent="-342900">
              <a:buFont typeface="Arial" panose="020B0604020202020204" pitchFamily="34" charset="0"/>
              <a:buChar char="•"/>
            </a:pPr>
            <a:r>
              <a:rPr lang="en-US" sz="2000" dirty="0"/>
              <a:t>In the Old Testament, however, there are lots of examples of animals, such as lambs or goats, being ritually killed or sent out into the wilderness to make up for the sins of human beings (</a:t>
            </a:r>
            <a:r>
              <a:rPr lang="en-US" sz="2000" i="1" dirty="0"/>
              <a:t>think ‘scapegoat’!</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Jesus is often referred to as the ‘Lamb of God’. This is because like a lamb, which would traditionally have been sacrificed, he died to make up for the sins </a:t>
            </a:r>
            <a:r>
              <a:rPr lang="en-US" sz="2000"/>
              <a:t>of humanity</a:t>
            </a:r>
            <a:endParaRPr lang="en-GB" sz="2000" dirty="0"/>
          </a:p>
        </p:txBody>
      </p:sp>
    </p:spTree>
    <p:extLst>
      <p:ext uri="{BB962C8B-B14F-4D97-AF65-F5344CB8AC3E}">
        <p14:creationId xmlns:p14="http://schemas.microsoft.com/office/powerpoint/2010/main" val="1655635504"/>
      </p:ext>
    </p:extLst>
  </p:cSld>
  <p:clrMapOvr>
    <a:masterClrMapping/>
  </p:clrMapOvr>
</p:sld>
</file>

<file path=ppt/theme/theme1.xml><?xml version="1.0" encoding="utf-8"?>
<a:theme xmlns:a="http://schemas.openxmlformats.org/drawingml/2006/main" name="ArchwayVTI">
  <a:themeElements>
    <a:clrScheme name="AnalogousFromLightSeedRightStep">
      <a:dk1>
        <a:srgbClr val="000000"/>
      </a:dk1>
      <a:lt1>
        <a:srgbClr val="FFFFFF"/>
      </a:lt1>
      <a:dk2>
        <a:srgbClr val="413324"/>
      </a:dk2>
      <a:lt2>
        <a:srgbClr val="E2E7E8"/>
      </a:lt2>
      <a:accent1>
        <a:srgbClr val="D39089"/>
      </a:accent1>
      <a:accent2>
        <a:srgbClr val="C79A6B"/>
      </a:accent2>
      <a:accent3>
        <a:srgbClr val="AAA66F"/>
      </a:accent3>
      <a:accent4>
        <a:srgbClr val="91AB5F"/>
      </a:accent4>
      <a:accent5>
        <a:srgbClr val="80AE72"/>
      </a:accent5>
      <a:accent6>
        <a:srgbClr val="63B371"/>
      </a:accent6>
      <a:hlink>
        <a:srgbClr val="588C92"/>
      </a:hlink>
      <a:folHlink>
        <a:srgbClr val="7F7F7F"/>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VTI" id="{309F1D27-9968-4F93-BA7C-3666A757FD2E}" vid="{76D8E8FD-8787-4E56-A14A-C28BF58ABEE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AD10A9D7E08D458C104B5739232EB4" ma:contentTypeVersion="19" ma:contentTypeDescription="Create a new document." ma:contentTypeScope="" ma:versionID="f06c63eefb6ff044dab917bc80b5708a">
  <xsd:schema xmlns:xsd="http://www.w3.org/2001/XMLSchema" xmlns:xs="http://www.w3.org/2001/XMLSchema" xmlns:p="http://schemas.microsoft.com/office/2006/metadata/properties" xmlns:ns2="ca05d594-02c3-4054-906a-8879c521063a" xmlns:ns3="80f066a0-d092-4ea2-8933-e7c755ed33e6" targetNamespace="http://schemas.microsoft.com/office/2006/metadata/properties" ma:root="true" ma:fieldsID="7a1deab4937aeeeb08d1b761a859a779" ns2:_="" ns3:_="">
    <xsd:import namespace="ca05d594-02c3-4054-906a-8879c521063a"/>
    <xsd:import namespace="80f066a0-d092-4ea2-8933-e7c755ed33e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3:MediaLengthInSeconds" minOccurs="0"/>
                <xsd:element ref="ns3:MediaServiceObjectDetectorVersions" minOccurs="0"/>
                <xsd:element ref="ns3:lcf76f155ced4ddcb4097134ff3c332f" minOccurs="0"/>
                <xsd:element ref="ns2:TaxCatchAll"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05d594-02c3-4054-906a-8879c521063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04fb91da-2293-4aa6-b922-e06818789a25}" ma:internalName="TaxCatchAll" ma:showField="CatchAllData" ma:web="ca05d594-02c3-4054-906a-8879c521063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0f066a0-d092-4ea2-8933-e7c755ed33e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9fe1d17e-ff9e-44d0-8ebb-180fc0d954b4"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a05d594-02c3-4054-906a-8879c521063a" xsi:nil="true"/>
    <lcf76f155ced4ddcb4097134ff3c332f xmlns="80f066a0-d092-4ea2-8933-e7c755ed33e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55CCA64-4158-4549-8BA8-CA03D5EACE23}">
  <ds:schemaRefs>
    <ds:schemaRef ds:uri="http://schemas.microsoft.com/sharepoint/v3/contenttype/forms"/>
  </ds:schemaRefs>
</ds:datastoreItem>
</file>

<file path=customXml/itemProps2.xml><?xml version="1.0" encoding="utf-8"?>
<ds:datastoreItem xmlns:ds="http://schemas.openxmlformats.org/officeDocument/2006/customXml" ds:itemID="{38F39372-81FE-48FE-ABB3-7BA88B124051}"/>
</file>

<file path=customXml/itemProps3.xml><?xml version="1.0" encoding="utf-8"?>
<ds:datastoreItem xmlns:ds="http://schemas.openxmlformats.org/officeDocument/2006/customXml" ds:itemID="{90CDD270-4488-4C50-AC39-6A74969C9524}"/>
</file>

<file path=docProps/app.xml><?xml version="1.0" encoding="utf-8"?>
<Properties xmlns="http://schemas.openxmlformats.org/officeDocument/2006/extended-properties" xmlns:vt="http://schemas.openxmlformats.org/officeDocument/2006/docPropsVTypes">
  <TotalTime>0</TotalTime>
  <Words>2297</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Felix Titling</vt:lpstr>
      <vt:lpstr>Goudy Old Style</vt:lpstr>
      <vt:lpstr>ArchwayVTI</vt:lpstr>
      <vt:lpstr>Sin, Sacrifice &amp; Salvation</vt:lpstr>
      <vt:lpstr>DISCUSSION</vt:lpstr>
      <vt:lpstr>What is sin?</vt:lpstr>
      <vt:lpstr>Keywords</vt:lpstr>
      <vt:lpstr>Read the extract below</vt:lpstr>
      <vt:lpstr>The origins of sin </vt:lpstr>
      <vt:lpstr>Impact of sin</vt:lpstr>
      <vt:lpstr>PowerPoint Presentation</vt:lpstr>
      <vt:lpstr>PowerPoint Presentation</vt:lpstr>
      <vt:lpstr>PowerPoint Presentation</vt:lpstr>
      <vt:lpstr>Pontius Pilate</vt:lpstr>
      <vt:lpstr>PowerPoint Presentation</vt:lpstr>
      <vt:lpstr>PowerPoint Presentation</vt:lpstr>
      <vt:lpstr>PowerPoint Presentation</vt:lpstr>
      <vt:lpstr>Jesus’ crucifixion</vt:lpstr>
      <vt:lpstr>The death of Jesus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 Sacrifice &amp; Salvation</dc:title>
  <dc:creator>Jade Ramsay</dc:creator>
  <cp:lastModifiedBy>Cat Graham</cp:lastModifiedBy>
  <cp:revision>3</cp:revision>
  <dcterms:created xsi:type="dcterms:W3CDTF">2024-01-31T09:28:13Z</dcterms:created>
  <dcterms:modified xsi:type="dcterms:W3CDTF">2026-01-19T08:03:57Z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0x01010067AD10A9D7E08D458C104B5739232EB4</vt:lpwstr>
  </property>
</Properties>
</file>